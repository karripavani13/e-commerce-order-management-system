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8"/>
  </p:notesMasterIdLst>
  <p:sldIdLst>
    <p:sldId id="256" r:id="rId3"/>
    <p:sldId id="257" r:id="rId4"/>
    <p:sldId id="259" r:id="rId5"/>
    <p:sldId id="285" r:id="rId6"/>
    <p:sldId id="301" r:id="rId7"/>
    <p:sldId id="303" r:id="rId8"/>
    <p:sldId id="302" r:id="rId9"/>
    <p:sldId id="284" r:id="rId10"/>
    <p:sldId id="288" r:id="rId11"/>
    <p:sldId id="287" r:id="rId12"/>
    <p:sldId id="300" r:id="rId13"/>
    <p:sldId id="292" r:id="rId14"/>
    <p:sldId id="293" r:id="rId15"/>
    <p:sldId id="294" r:id="rId16"/>
    <p:sldId id="304" r:id="rId17"/>
    <p:sldId id="305" r:id="rId18"/>
    <p:sldId id="295" r:id="rId19"/>
    <p:sldId id="306" r:id="rId20"/>
    <p:sldId id="296" r:id="rId21"/>
    <p:sldId id="299" r:id="rId22"/>
    <p:sldId id="308" r:id="rId23"/>
    <p:sldId id="307" r:id="rId24"/>
    <p:sldId id="297" r:id="rId25"/>
    <p:sldId id="268" r:id="rId26"/>
    <p:sldId id="269" r:id="rId27"/>
  </p:sldIdLst>
  <p:sldSz cx="10058400" cy="7772400"/>
  <p:notesSz cx="10058400" cy="7772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9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244" autoAdjust="0"/>
    <p:restoredTop sz="94660"/>
  </p:normalViewPr>
  <p:slideViewPr>
    <p:cSldViewPr showGuides="1">
      <p:cViewPr>
        <p:scale>
          <a:sx n="75" d="100"/>
          <a:sy n="75" d="100"/>
        </p:scale>
        <p:origin x="1742" y="43"/>
      </p:cViewPr>
      <p:guideLst>
        <p:guide orient="horz" pos="2889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1" Type="http://schemas.openxmlformats.org/officeDocument/2006/relationships/tableStyles" Target="tableStyles.xml"/><Relationship Id="rId30" Type="http://schemas.openxmlformats.org/officeDocument/2006/relationships/viewProps" Target="viewProps.xml"/><Relationship Id="rId3" Type="http://schemas.openxmlformats.org/officeDocument/2006/relationships/slide" Target="slides/slide1.xml"/><Relationship Id="rId29" Type="http://schemas.openxmlformats.org/officeDocument/2006/relationships/presProps" Target="presProps.xml"/><Relationship Id="rId28" Type="http://schemas.openxmlformats.org/officeDocument/2006/relationships/notesMaster" Target="notesMasters/notesMaster1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97538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419B0A-DB98-47ED-A0D2-B47FD394FE07}" type="datetimeFigureOut">
              <a:rPr lang="en-IN" smtClean="0"/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332163" y="971550"/>
            <a:ext cx="3394075" cy="26225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06475" y="3740150"/>
            <a:ext cx="8045450" cy="30607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97538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E471F2-2083-493A-8C9E-53209FFA1EC8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4380" y="2409444"/>
            <a:ext cx="8549640" cy="1632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1" i="0">
                <a:solidFill>
                  <a:srgbClr val="375F92"/>
                </a:solidFill>
                <a:latin typeface="Palatino Linotype" panose="02040502050505030304"/>
                <a:cs typeface="Palatino Linotype" panose="020405020505050303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50" b="1" i="0">
                <a:solidFill>
                  <a:schemeClr val="tx1"/>
                </a:solidFill>
                <a:latin typeface="Palatino Linotype" panose="02040502050505030304"/>
                <a:cs typeface="Palatino Linotype" panose="020405020505050303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rgbClr val="375F92"/>
                </a:solidFill>
                <a:latin typeface="Palatino Linotype" panose="02040502050505030304"/>
                <a:cs typeface="Palatino Linotype" panose="020405020505050303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950" b="1" i="0">
                <a:solidFill>
                  <a:schemeClr val="tx1"/>
                </a:solidFill>
                <a:latin typeface="Palatino Linotype" panose="02040502050505030304"/>
                <a:cs typeface="Palatino Linotype" panose="020405020505050303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rgbClr val="375F92"/>
                </a:solidFill>
                <a:latin typeface="Palatino Linotype" panose="02040502050505030304"/>
                <a:cs typeface="Palatino Linotype" panose="020405020505050303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rgbClr val="375F92"/>
                </a:solidFill>
                <a:latin typeface="Palatino Linotype" panose="02040502050505030304"/>
                <a:cs typeface="Palatino Linotype" panose="020405020505050303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48056" y="258722"/>
            <a:ext cx="4601366" cy="704793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30316" y="125730"/>
            <a:ext cx="4997767" cy="1045130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663904" y="251407"/>
            <a:ext cx="4577410" cy="506849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2718911" y="290750"/>
            <a:ext cx="4471670" cy="400685"/>
          </a:xfrm>
          <a:custGeom>
            <a:avLst/>
            <a:gdLst/>
            <a:ahLst/>
            <a:cxnLst/>
            <a:rect l="l" t="t" r="r" b="b"/>
            <a:pathLst>
              <a:path w="4471670" h="400684">
                <a:moveTo>
                  <a:pt x="4386510" y="0"/>
                </a:moveTo>
                <a:lnTo>
                  <a:pt x="84762" y="0"/>
                </a:lnTo>
                <a:lnTo>
                  <a:pt x="51758" y="5238"/>
                </a:lnTo>
                <a:lnTo>
                  <a:pt x="24831" y="19592"/>
                </a:lnTo>
                <a:lnTo>
                  <a:pt x="6705" y="40757"/>
                </a:lnTo>
                <a:lnTo>
                  <a:pt x="0" y="66741"/>
                </a:lnTo>
                <a:lnTo>
                  <a:pt x="0" y="333813"/>
                </a:lnTo>
                <a:lnTo>
                  <a:pt x="6705" y="359797"/>
                </a:lnTo>
                <a:lnTo>
                  <a:pt x="24831" y="381066"/>
                </a:lnTo>
                <a:lnTo>
                  <a:pt x="51758" y="395316"/>
                </a:lnTo>
                <a:lnTo>
                  <a:pt x="84762" y="400554"/>
                </a:lnTo>
                <a:lnTo>
                  <a:pt x="4386510" y="400554"/>
                </a:lnTo>
                <a:lnTo>
                  <a:pt x="4419514" y="395316"/>
                </a:lnTo>
                <a:lnTo>
                  <a:pt x="4446441" y="381066"/>
                </a:lnTo>
                <a:lnTo>
                  <a:pt x="4464567" y="359797"/>
                </a:lnTo>
                <a:lnTo>
                  <a:pt x="4471273" y="333813"/>
                </a:lnTo>
                <a:lnTo>
                  <a:pt x="4471273" y="66741"/>
                </a:lnTo>
                <a:lnTo>
                  <a:pt x="4464567" y="40757"/>
                </a:lnTo>
                <a:lnTo>
                  <a:pt x="4446441" y="19592"/>
                </a:lnTo>
                <a:lnTo>
                  <a:pt x="4419514" y="5238"/>
                </a:lnTo>
                <a:lnTo>
                  <a:pt x="4386510" y="0"/>
                </a:lnTo>
                <a:close/>
              </a:path>
            </a:pathLst>
          </a:custGeom>
          <a:solidFill>
            <a:srgbClr val="FF66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0" name="bg object 2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292554" y="282840"/>
            <a:ext cx="3375117" cy="56971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30970" y="881554"/>
            <a:ext cx="2528570" cy="3752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1" i="0">
                <a:solidFill>
                  <a:srgbClr val="375F92"/>
                </a:solidFill>
                <a:latin typeface="Palatino Linotype" panose="02040502050505030304"/>
                <a:cs typeface="Palatino Linotype" panose="020405020505050303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21188" y="1409149"/>
            <a:ext cx="8949055" cy="32943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50" b="1" i="0">
                <a:solidFill>
                  <a:schemeClr val="tx1"/>
                </a:solidFill>
                <a:latin typeface="Palatino Linotype" panose="02040502050505030304"/>
                <a:cs typeface="Palatino Linotype" panose="020405020505050303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242048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jpe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5.xml"/><Relationship Id="rId4" Type="http://schemas.openxmlformats.org/officeDocument/2006/relationships/image" Target="../media/image8.png"/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image" Target="../media/image6.jpe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6.jpeg"/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8.png"/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8.png"/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8.png"/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8.png"/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image" Target="../media/image6.jpeg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8.png"/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image" Target="../media/image6.jpe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8.png"/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image" Target="../media/image6.jpe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8.png"/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image" Target="../media/image6.jpe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8.png"/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image" Target="../media/image6.jpeg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8.png"/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image" Target="../media/image6.jpeg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8.png"/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image" Target="../media/image6.jpeg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8.png"/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image" Target="../media/image6.jpeg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8.png"/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image" Target="../media/image6.jpeg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8.png"/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image" Target="../media/image6.jpeg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8.png"/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image" Target="../media/image6.jpeg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8.png"/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image" Target="../media/image6.jpe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13.png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8.png"/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image" Target="../media/image6.jpeg"/></Relationships>
</file>

<file path=ppt/slides/_rels/slide2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8.png"/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image" Target="../media/image6.jpe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18.png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8.png"/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image" Target="../media/image6.jpeg"/></Relationships>
</file>

<file path=ppt/slides/_rels/slide2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8.png"/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image" Target="../media/image6.jpeg"/></Relationships>
</file>

<file path=ppt/slides/_rels/slide2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6.jpeg"/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image" Target="../media/image7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2693969" y="211046"/>
            <a:ext cx="4610910" cy="62864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65624" y="1197215"/>
            <a:ext cx="7467599" cy="10125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ctr">
              <a:lnSpc>
                <a:spcPct val="150000"/>
              </a:lnSpc>
              <a:spcBef>
                <a:spcPts val="90"/>
              </a:spcBef>
            </a:pPr>
            <a:r>
              <a:rPr lang="en-IN"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Management Systems Cornerstone Project</a:t>
            </a:r>
            <a:br>
              <a:rPr lang="en-IN"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Review (Review I &amp; II)</a:t>
            </a:r>
            <a:endParaRPr sz="220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xfrm>
            <a:off x="653494" y="2514600"/>
            <a:ext cx="8751412" cy="367220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lang="en-IN" dirty="0"/>
              <a:t>E-Commerce Order Management System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</a:t>
            </a:r>
            <a:r>
              <a:rPr sz="2200" spc="8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2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endParaRPr lang="en-IN" sz="2200" spc="-25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130"/>
              </a:spcBef>
            </a:pPr>
            <a:endParaRPr lang="en-IN" sz="900" spc="-25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lang="en-IN" sz="2000" spc="-10" dirty="0">
                <a:solidFill>
                  <a:srgbClr val="17375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G. SPANDANA - 25B11AI340</a:t>
            </a:r>
            <a:endParaRPr lang="en-IN" sz="2000" spc="-10" dirty="0">
              <a:solidFill>
                <a:srgbClr val="17375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lang="en-IN" sz="2000" spc="-10" dirty="0">
                <a:solidFill>
                  <a:srgbClr val="17375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N. SITA MAHALAKSHMI - 25B11AI845</a:t>
            </a:r>
            <a:endParaRPr lang="en-IN" sz="2000" spc="-10" dirty="0">
              <a:solidFill>
                <a:srgbClr val="17375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lang="en-IN" sz="2000" spc="-10" dirty="0">
                <a:solidFill>
                  <a:srgbClr val="17375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P.RISHITHA - 25B11AI940</a:t>
            </a:r>
            <a:endParaRPr lang="en-IN" sz="2000" spc="-10" dirty="0">
              <a:solidFill>
                <a:srgbClr val="17375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lang="en-IN" sz="2000" spc="-10" dirty="0">
                <a:solidFill>
                  <a:srgbClr val="17375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K.PAVANI - 25B11AID17</a:t>
            </a:r>
            <a:endParaRPr lang="en-IN" sz="2000" spc="-10" dirty="0">
              <a:solidFill>
                <a:srgbClr val="17375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810" algn="ctr">
              <a:lnSpc>
                <a:spcPct val="100000"/>
              </a:lnSpc>
              <a:spcBef>
                <a:spcPts val="750"/>
              </a:spcBef>
            </a:pPr>
            <a:endParaRPr lang="en-IN" sz="165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810" algn="ctr">
              <a:lnSpc>
                <a:spcPct val="100000"/>
              </a:lnSpc>
              <a:spcBef>
                <a:spcPts val="750"/>
              </a:spcBef>
            </a:pPr>
            <a:endParaRPr lang="en-IN" sz="165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" algn="ctr">
              <a:lnSpc>
                <a:spcPct val="100000"/>
              </a:lnSpc>
              <a:spcBef>
                <a:spcPts val="995"/>
              </a:spcBef>
            </a:pPr>
            <a:r>
              <a:rPr sz="2200" dirty="0">
                <a:solidFill>
                  <a:srgbClr val="9437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</a:t>
            </a:r>
            <a:r>
              <a:rPr sz="2200" spc="-60" dirty="0">
                <a:solidFill>
                  <a:srgbClr val="9437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solidFill>
                  <a:srgbClr val="9437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2200" dirty="0">
                <a:solidFill>
                  <a:srgbClr val="9437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en-IN" sz="2200" dirty="0">
                <a:solidFill>
                  <a:srgbClr val="9437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 &amp; Machine Learning</a:t>
            </a:r>
            <a:endParaRPr lang="en-IN" sz="2200" spc="-10" dirty="0">
              <a:solidFill>
                <a:srgbClr val="94373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" algn="ctr">
              <a:lnSpc>
                <a:spcPct val="100000"/>
              </a:lnSpc>
              <a:spcBef>
                <a:spcPts val="995"/>
              </a:spcBef>
            </a:pPr>
            <a:endParaRPr lang="en-IN" sz="1650" spc="-10" dirty="0">
              <a:solidFill>
                <a:srgbClr val="94373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00000" y="1497893"/>
            <a:ext cx="4100000" cy="4587153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9890" indent="-377190">
              <a:lnSpc>
                <a:spcPct val="100000"/>
              </a:lnSpc>
              <a:spcBef>
                <a:spcPts val="130"/>
              </a:spcBef>
              <a:buFont typeface="Cambria" panose="02040503050406030204"/>
              <a:buAutoNum type="arabicPeriod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Finalize title, objectives &amp; problem statement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entities &amp; attributes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ER diagram &amp; relationships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Prepare relational database schema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 Primary &amp; Foreign Keys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GitHub repo &amp; responsibilities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creation &amp; constraints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100000" y="1497893"/>
            <a:ext cx="4100000" cy="4587153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9890" indent="-377190">
              <a:lnSpc>
                <a:spcPct val="100000"/>
              </a:lnSpc>
              <a:spcBef>
                <a:spcPts val="130"/>
              </a:spcBef>
              <a:buFont typeface="Cambria" panose="02040503050406030204"/>
              <a:buAutoNum type="arabicPeriod" startAt="9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 sample data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DDL, DML &amp; DQL operations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CRUD operations &amp; SQL queries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integrity &amp; validation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documentation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Demonstrate &amp; present database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" name="object 3"/>
          <p:cNvGrpSpPr/>
          <p:nvPr/>
        </p:nvGrpSpPr>
        <p:grpSpPr>
          <a:xfrm>
            <a:off x="2438400" y="33670"/>
            <a:ext cx="5334000" cy="1198311"/>
            <a:chOff x="2648188" y="47148"/>
            <a:chExt cx="5103904" cy="1198311"/>
          </a:xfrm>
        </p:grpSpPr>
        <p:pic>
          <p:nvPicPr>
            <p:cNvPr id="6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7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8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9" name="object 7"/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9"/>
          <p:cNvSpPr txBox="1"/>
          <p:nvPr/>
        </p:nvSpPr>
        <p:spPr>
          <a:xfrm>
            <a:off x="3604543" y="286092"/>
            <a:ext cx="2853690" cy="35522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spcBef>
                <a:spcPts val="130"/>
              </a:spcBef>
            </a:pPr>
            <a:r>
              <a:rPr lang="en-IN" sz="2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Outline</a:t>
            </a:r>
            <a:endParaRPr lang="en-IN" sz="22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3"/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5" name="object 4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6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7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8" name="object 7"/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3954952" y="344896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</a:t>
            </a:r>
            <a:endParaRPr lang="en-IN" sz="195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object 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9600" y="1197114"/>
            <a:ext cx="8686800" cy="6000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Project Title</a:t>
            </a:r>
            <a:endParaRPr lang="en-IN" sz="2400" b="1" dirty="0"/>
          </a:p>
          <a:p>
            <a:r>
              <a:rPr lang="en-IN" sz="2400" dirty="0"/>
              <a:t>E-Commerce Order Management System</a:t>
            </a:r>
            <a:endParaRPr lang="en-IN" sz="2400" dirty="0"/>
          </a:p>
          <a:p>
            <a:r>
              <a:rPr lang="en-IN" sz="2400" b="1" dirty="0"/>
              <a:t>Problem Statement</a:t>
            </a:r>
            <a:endParaRPr lang="en-IN" sz="2400" b="1" dirty="0"/>
          </a:p>
          <a:p>
            <a:r>
              <a:rPr lang="en-IN" sz="2400" dirty="0"/>
              <a:t>Managing customer orders, products, and payments efficiently is difficult when data is unorganized. This project provides a database system to store, manage, and track e-commerce orders accurately and efficiently.</a:t>
            </a:r>
            <a:endParaRPr lang="en-IN" sz="2400" dirty="0"/>
          </a:p>
          <a:p>
            <a:r>
              <a:rPr lang="en-IN" sz="2400" b="1" dirty="0"/>
              <a:t>Objectives</a:t>
            </a:r>
            <a:endParaRPr lang="en-IN" sz="2400" b="1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Manage customer information and addresses </a:t>
            </a:r>
            <a:endParaRPr lang="en-IN" sz="24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Maintain product and category details </a:t>
            </a:r>
            <a:endParaRPr lang="en-IN" sz="24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Track customer orders and ordered products </a:t>
            </a:r>
            <a:endParaRPr lang="en-IN" sz="24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Manage payment information and transaction status </a:t>
            </a:r>
            <a:endParaRPr lang="en-IN" sz="24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Maintain data consistency and integrity using SQL constraints </a:t>
            </a:r>
            <a:endParaRPr lang="en-IN" sz="24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Provide an organized and </a:t>
            </a:r>
            <a:r>
              <a:rPr lang="en-IN" sz="2400" dirty="0" err="1"/>
              <a:t>queryable</a:t>
            </a:r>
            <a:r>
              <a:rPr lang="en-IN" sz="2400" dirty="0"/>
              <a:t> database structure </a:t>
            </a:r>
            <a:endParaRPr lang="en-IN" sz="2400" dirty="0"/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4412373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</a:t>
            </a:r>
            <a:endParaRPr lang="en-IN" sz="195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2" name="object 3"/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3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/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3200400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ENTITIES &amp; ATTRIBUTES</a:t>
            </a:r>
            <a:endParaRPr lang="en-IN" sz="195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77299" y="667992"/>
            <a:ext cx="67818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I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ntity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Customer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256705" y="1209662"/>
          <a:ext cx="9524395" cy="28675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4879"/>
                <a:gridCol w="1904879"/>
                <a:gridCol w="1904879"/>
                <a:gridCol w="1904879"/>
                <a:gridCol w="1904879"/>
              </a:tblGrid>
              <a:tr h="347950">
                <a:tc>
                  <a:txBody>
                    <a:bodyPr/>
                    <a:lstStyle/>
                    <a:p>
                      <a:r>
                        <a:rPr lang="en-US" sz="1400" dirty="0"/>
                        <a:t>Attribute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Data Type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Constraint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Attribute Type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Description</a:t>
                      </a:r>
                      <a:endParaRPr lang="en-IN" sz="1400" dirty="0"/>
                    </a:p>
                  </a:txBody>
                  <a:tcPr/>
                </a:tc>
              </a:tr>
              <a:tr h="240888">
                <a:tc>
                  <a:txBody>
                    <a:bodyPr/>
                    <a:lstStyle/>
                    <a:p>
                      <a:r>
                        <a:rPr lang="en-US" sz="1400" dirty="0" err="1"/>
                        <a:t>customer_id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INT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PK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Simple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IN" sz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Customer identifier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</a:tr>
              <a:tr h="347950">
                <a:tc>
                  <a:txBody>
                    <a:bodyPr/>
                    <a:lstStyle/>
                    <a:p>
                      <a:r>
                        <a:rPr lang="en-IN" sz="14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first_name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VARCHAR(50)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Composite part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First name</a:t>
                      </a:r>
                      <a:endParaRPr lang="en-IN" sz="1400" dirty="0"/>
                    </a:p>
                  </a:txBody>
                  <a:tcPr/>
                </a:tc>
              </a:tr>
              <a:tr h="347950">
                <a:tc>
                  <a:txBody>
                    <a:bodyPr/>
                    <a:lstStyle/>
                    <a:p>
                      <a:r>
                        <a:rPr lang="en-IN" sz="14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last_name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VARCHAR(50)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Composite part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Last name</a:t>
                      </a:r>
                      <a:endParaRPr lang="en-IN" sz="1400" dirty="0"/>
                    </a:p>
                  </a:txBody>
                  <a:tcPr/>
                </a:tc>
              </a:tr>
              <a:tr h="347950"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email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VARCHAR(100)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UNIQUE NOT NULL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Simple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Login email</a:t>
                      </a:r>
                      <a:endParaRPr lang="en-IN" sz="1400" dirty="0"/>
                    </a:p>
                  </a:txBody>
                  <a:tcPr/>
                </a:tc>
              </a:tr>
              <a:tr h="347950">
                <a:tc>
                  <a:txBody>
                    <a:bodyPr/>
                    <a:lstStyle/>
                    <a:p>
                      <a:r>
                        <a:rPr lang="en-IN" sz="14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phone_numbers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TEXT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Multivalued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400" dirty="0"/>
                        <a:t>Multivalued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Customer_Phone</a:t>
                      </a:r>
                      <a:r>
                        <a:rPr lang="en-IN" sz="14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table</a:t>
                      </a:r>
                      <a:endParaRPr lang="en-IN" sz="1400" dirty="0"/>
                    </a:p>
                  </a:txBody>
                  <a:tcPr/>
                </a:tc>
              </a:tr>
              <a:tr h="159548">
                <a:tc>
                  <a:txBody>
                    <a:bodyPr/>
                    <a:lstStyle/>
                    <a:p>
                      <a:r>
                        <a:rPr lang="en-IN" sz="14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registration_date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DATE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Simple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Date joined</a:t>
                      </a:r>
                      <a:endParaRPr lang="en-IN" sz="1400" dirty="0"/>
                    </a:p>
                  </a:txBody>
                  <a:tcPr/>
                </a:tc>
              </a:tr>
              <a:tr h="347950">
                <a:tc>
                  <a:txBody>
                    <a:bodyPr/>
                    <a:lstStyle/>
                    <a:p>
                      <a:r>
                        <a:rPr lang="en-IN" sz="14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total_orders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INT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Derived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400" dirty="0"/>
                        <a:t>Derived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Count from Orders table</a:t>
                      </a:r>
                      <a:endParaRPr lang="en-IN" sz="14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219314" y="3998657"/>
            <a:ext cx="23743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err="1"/>
              <a:t>Entity:Address</a:t>
            </a:r>
            <a:endParaRPr lang="en-IN" sz="2400" b="1" dirty="0"/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233730" y="4468305"/>
          <a:ext cx="9837027" cy="32190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2459"/>
                <a:gridCol w="2038642"/>
                <a:gridCol w="2038642"/>
                <a:gridCol w="2038642"/>
                <a:gridCol w="2038642"/>
              </a:tblGrid>
              <a:tr h="712027">
                <a:tc>
                  <a:txBody>
                    <a:bodyPr/>
                    <a:lstStyle/>
                    <a:p>
                      <a:r>
                        <a:rPr lang="en-US" dirty="0"/>
                        <a:t>Attribute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Data Type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Constraint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Attribute Type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Description</a:t>
                      </a:r>
                      <a:endParaRPr lang="en-IN" dirty="0"/>
                    </a:p>
                  </a:txBody>
                  <a:tcPr/>
                </a:tc>
              </a:tr>
              <a:tr h="339130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IN" sz="16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address_id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IN" sz="14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INT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IN" sz="14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PK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IN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Simple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IN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Address identifier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</a:tr>
              <a:tr h="339130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IN" sz="16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customer_id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IN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INT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IN" sz="14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FK → Customer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Simple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Owner customer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</a:tr>
              <a:tr h="339130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IN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street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IN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VARCHAR(200)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Composite part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Street line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</a:tr>
              <a:tr h="339130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IN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city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IN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VARCHAR(100)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Composite part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City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</a:tr>
              <a:tr h="339130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IN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state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IN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VARCHAR(100)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Composite part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State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IN" sz="16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pincode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IN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VARCHAR(10)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Composite part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Postal code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</a:tr>
              <a:tr h="339130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IN" sz="16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address_type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IN" sz="14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VARCHAR(20)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IN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Simple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IN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Home/Office/Other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4412373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</a:t>
            </a:r>
            <a:endParaRPr lang="en-IN" sz="195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2" name="object 3"/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3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/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3200400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ENTITIES &amp; ATTRIBUTES</a:t>
            </a:r>
            <a:endParaRPr lang="en-IN" sz="195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29958" y="764830"/>
            <a:ext cx="24769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err="1"/>
              <a:t>Entity:Category</a:t>
            </a:r>
            <a:endParaRPr lang="en-IN" b="1" dirty="0"/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429958" y="1308470"/>
          <a:ext cx="7799640" cy="20443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9928"/>
                <a:gridCol w="1559928"/>
                <a:gridCol w="1559928"/>
                <a:gridCol w="1559928"/>
                <a:gridCol w="1559928"/>
              </a:tblGrid>
              <a:tr h="492528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IN" sz="1600" b="1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Attribute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IN" sz="1600" b="1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Data Type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IN" sz="1600" b="1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Constraint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IN" sz="1600" b="1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Attribute Type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IN" sz="1600" b="1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Description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</a:tr>
              <a:tr h="492528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IN" sz="16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category_id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INT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PK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Simple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Category identifier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</a:tr>
              <a:tr h="566745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category_name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VARCHAR(100)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NOT NULL UNIQUE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Simple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IN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e.g. Electronics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</a:tr>
              <a:tr h="492528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parent_category_id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INT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FK → Category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Simple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IN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For sub-categories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393435" y="3394264"/>
            <a:ext cx="23038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err="1"/>
              <a:t>Entity:Product</a:t>
            </a:r>
            <a:endParaRPr lang="en-IN" b="1" dirty="0"/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460228" y="4084424"/>
          <a:ext cx="8302770" cy="33666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0554"/>
                <a:gridCol w="1660554"/>
                <a:gridCol w="1660554"/>
                <a:gridCol w="1660554"/>
                <a:gridCol w="1660554"/>
              </a:tblGrid>
              <a:tr h="420832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IN" sz="1600" b="1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Attribute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IN" sz="1600" b="1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Data Type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IN" sz="1600" b="1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Constraint / Note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IN" sz="1600" b="1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Attribute Type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IN" sz="1600" b="1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Description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</a:tr>
              <a:tr h="420832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product_id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INT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PK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Simple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Product identifier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</a:tr>
              <a:tr h="420832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product_name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VARCHAR(200)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NOT NULL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Simple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Product name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</a:tr>
              <a:tr h="420832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description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TEXT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IN" sz="18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Simple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Product description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</a:tr>
              <a:tr h="420832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price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DECIMAL(10,2)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NOT NULL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Simple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Unit price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</a:tr>
              <a:tr h="420832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stock_quantity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INT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IN" sz="18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Simple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Available stock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</a:tr>
              <a:tr h="420832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category_id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INT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FK → Category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Simple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Product category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</a:tr>
              <a:tr h="420832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tags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TEXT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Multi-valued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Multi-valued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IN" sz="16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Product_Tags</a:t>
                      </a:r>
                      <a:r>
                        <a:rPr lang="en-IN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table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4412373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</a:t>
            </a:r>
            <a:endParaRPr lang="en-IN" sz="195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2" name="object 3"/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3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/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3200400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ENTITIES &amp; ATTRIBUTES</a:t>
            </a:r>
            <a:endParaRPr lang="en-IN" sz="195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16727" y="694950"/>
            <a:ext cx="19800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err="1"/>
              <a:t>Entity:Order</a:t>
            </a:r>
            <a:endParaRPr lang="en-IN" b="1" dirty="0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56590" y="1306952"/>
          <a:ext cx="8711210" cy="2712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2242"/>
                <a:gridCol w="1742242"/>
                <a:gridCol w="1742242"/>
                <a:gridCol w="1742242"/>
                <a:gridCol w="1742242"/>
              </a:tblGrid>
              <a:tr h="370840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IN" sz="1600" b="1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Attribute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IN" sz="1600" b="1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Data Type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IN" sz="1600" b="1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Constraint / Note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IN" sz="1600" b="1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Attribute Type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IN" sz="1600" b="1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Description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</a:tr>
              <a:tr h="370840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order_id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INT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PK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Simple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Order identifier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</a:tr>
              <a:tr h="370840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customer_id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INT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FK → Customer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Simple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Ordering customer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</a:tr>
              <a:tr h="370840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address_id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INT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FK → Address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Simple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Delivery address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</a:tr>
              <a:tr h="370840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order_date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DATE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IN" sz="18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Simple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Date placed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</a:tr>
              <a:tr h="370840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order_status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VARCHAR(30)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IN" sz="18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Simple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Pending/Shipped/Delivered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</a:tr>
              <a:tr h="370840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total_amount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DECIMAL(10,2)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Derived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Derived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IN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Sum of order items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133182" y="4043305"/>
            <a:ext cx="234711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err="1"/>
              <a:t>Entity:Order_Item</a:t>
            </a:r>
            <a:endParaRPr lang="en-IN" b="1" dirty="0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0765" y="4631233"/>
          <a:ext cx="9080810" cy="28597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6162"/>
                <a:gridCol w="1816162"/>
                <a:gridCol w="1816162"/>
                <a:gridCol w="1816162"/>
                <a:gridCol w="1816162"/>
              </a:tblGrid>
              <a:tr h="408537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IN" sz="1600" b="1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Attribute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IN" sz="1600" b="1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Data Type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IN" sz="1600" b="1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Constraint / Note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IN" sz="1600" b="1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Attribute Type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IN" sz="1600" b="1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Description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</a:tr>
              <a:tr h="408537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item_id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INT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PK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Simple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Item line identifier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</a:tr>
              <a:tr h="408537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order_id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INT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FK → Order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Simple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Parent order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</a:tr>
              <a:tr h="408537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product_id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INT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FK → Product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Simple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Ordered product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</a:tr>
              <a:tr h="408537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quantity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INT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NOT NULL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Simple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Quantity ordered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</a:tr>
              <a:tr h="408537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unit_price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DECIMAL(10,2)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IN" sz="18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Simple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Price at time of order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</a:tr>
              <a:tr h="408537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subtotal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DECIMAL(10,2)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Derived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Derived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IN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quantity × </a:t>
                      </a:r>
                      <a:r>
                        <a:rPr lang="en-IN" sz="16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unit_price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4412373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</a:t>
            </a:r>
            <a:endParaRPr lang="en-IN" sz="195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2" name="object 3"/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3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/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3200400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ENTITIES &amp; ATTRIBUTES</a:t>
            </a:r>
            <a:endParaRPr lang="en-IN" sz="195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90602" y="893178"/>
            <a:ext cx="21210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dirty="0"/>
              <a:t>Entity: Payment</a:t>
            </a:r>
            <a:endParaRPr lang="en-IN" sz="1800" b="1" dirty="0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290750" y="1532161"/>
          <a:ext cx="9691450" cy="35051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8290"/>
                <a:gridCol w="1938290"/>
                <a:gridCol w="1938290"/>
                <a:gridCol w="1938290"/>
                <a:gridCol w="1938290"/>
              </a:tblGrid>
              <a:tr h="278099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IN" sz="1600" b="1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Attribute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IN" sz="1600" b="1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Data Type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IN" sz="1600" b="1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Constraint / Note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IN" sz="1600" b="1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Attribute Type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IN" sz="1600" b="1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Description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</a:tr>
              <a:tr h="422941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payment_id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INT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PK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Simple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Payment identifier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</a:tr>
              <a:tr h="422941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order_id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INT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FK → Order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Simple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Related order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</a:tr>
              <a:tr h="422941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payment_date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DATE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IN" sz="18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Simple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Payment date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</a:tr>
              <a:tr h="422941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IN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amount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DECIMAL(10,2)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IN" sz="18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Simple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Amount paid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</a:tr>
              <a:tr h="556197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method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VARCHAR(30)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IN" sz="18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Simple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UPI/Card/COD/NetBanking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</a:tr>
              <a:tr h="556197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IN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status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VARCHAR(20)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IN" sz="18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Simple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Success/Failed/Pending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</a:tr>
              <a:tr h="422941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transaction_id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VARCHAR(100)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UNIQUE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Simple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IN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Gateway reference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4412373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</a:t>
            </a:r>
            <a:endParaRPr lang="en-IN" sz="195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2" name="object 3"/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3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/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4191000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 DIAGRAM</a:t>
            </a:r>
            <a:endParaRPr lang="en-IN" sz="195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864965"/>
            <a:ext cx="8458199" cy="682242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4412373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</a:t>
            </a:r>
            <a:endParaRPr lang="en-IN" sz="195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2" name="object 3"/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3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/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2895600" y="304800"/>
            <a:ext cx="5029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RELATIONAL</a:t>
            </a:r>
            <a:r>
              <a:rPr lang="en-IN" sz="2000" dirty="0"/>
              <a:t> </a:t>
            </a:r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  <a:r>
              <a:rPr lang="en-IN" sz="2000" dirty="0"/>
              <a:t> </a:t>
            </a:r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SCHEMA</a:t>
            </a:r>
            <a:endParaRPr lang="en-IN" sz="195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914400"/>
            <a:ext cx="9982200" cy="680198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4412373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</a:t>
            </a:r>
            <a:endParaRPr lang="en-IN" sz="195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2" name="object 3"/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3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/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3429000" y="321324"/>
            <a:ext cx="5029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PRIMARY</a:t>
            </a:r>
            <a:r>
              <a:rPr lang="en-IN" sz="2000" dirty="0"/>
              <a:t> </a:t>
            </a:r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&amp;</a:t>
            </a:r>
            <a:r>
              <a:rPr lang="en-IN" sz="2000" dirty="0"/>
              <a:t> </a:t>
            </a:r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FOREIGN</a:t>
            </a:r>
            <a:r>
              <a:rPr lang="en-IN" sz="2000" dirty="0"/>
              <a:t> </a:t>
            </a:r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KEYS</a:t>
            </a:r>
            <a:endParaRPr lang="en-IN" sz="195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4300" y="688501"/>
            <a:ext cx="9829800" cy="72415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Primary Keys</a:t>
            </a:r>
            <a:endParaRPr lang="en-IN" sz="2400" b="1" dirty="0"/>
          </a:p>
          <a:p>
            <a:r>
              <a:rPr lang="en-IN" sz="2400" dirty="0"/>
              <a:t>A </a:t>
            </a:r>
            <a:r>
              <a:rPr lang="en-IN" sz="2400" b="1" dirty="0"/>
              <a:t>Primary Key</a:t>
            </a:r>
            <a:r>
              <a:rPr lang="en-IN" sz="2400" dirty="0"/>
              <a:t> is an attribute that </a:t>
            </a:r>
            <a:r>
              <a:rPr lang="en-IN" sz="2400" b="1" dirty="0"/>
              <a:t>uniquely identifies each record (row) in a table</a:t>
            </a:r>
            <a:r>
              <a:rPr lang="en-IN" sz="2400" dirty="0"/>
              <a:t>.</a:t>
            </a:r>
            <a:endParaRPr lang="en-IN" sz="2400" b="1" dirty="0"/>
          </a:p>
          <a:p>
            <a:pPr lvl="0"/>
            <a:r>
              <a:rPr lang="en-IN" sz="2400" dirty="0"/>
              <a:t>Customer → </a:t>
            </a:r>
            <a:r>
              <a:rPr lang="en-IN" sz="2400" dirty="0" err="1"/>
              <a:t>customer_id</a:t>
            </a:r>
            <a:r>
              <a:rPr lang="en-IN" sz="2400" dirty="0"/>
              <a:t> </a:t>
            </a:r>
            <a:endParaRPr lang="en-IN" sz="2400" dirty="0"/>
          </a:p>
          <a:p>
            <a:pPr lvl="0"/>
            <a:r>
              <a:rPr lang="en-IN" sz="2400" dirty="0"/>
              <a:t>Address → </a:t>
            </a:r>
            <a:r>
              <a:rPr lang="en-IN" sz="2400" dirty="0" err="1"/>
              <a:t>address_id</a:t>
            </a:r>
            <a:r>
              <a:rPr lang="en-IN" sz="2400" dirty="0"/>
              <a:t> </a:t>
            </a:r>
            <a:endParaRPr lang="en-IN" sz="2400" dirty="0"/>
          </a:p>
          <a:p>
            <a:pPr lvl="0"/>
            <a:r>
              <a:rPr lang="en-IN" sz="2400" dirty="0"/>
              <a:t>Category → </a:t>
            </a:r>
            <a:r>
              <a:rPr lang="en-IN" sz="2400" dirty="0" err="1"/>
              <a:t>category_id</a:t>
            </a:r>
            <a:r>
              <a:rPr lang="en-IN" sz="2400" dirty="0"/>
              <a:t> </a:t>
            </a:r>
            <a:endParaRPr lang="en-IN" sz="2400" dirty="0"/>
          </a:p>
          <a:p>
            <a:pPr lvl="0"/>
            <a:r>
              <a:rPr lang="en-IN" sz="2400" dirty="0"/>
              <a:t>Product → </a:t>
            </a:r>
            <a:r>
              <a:rPr lang="en-IN" sz="2400" dirty="0" err="1"/>
              <a:t>product_id</a:t>
            </a:r>
            <a:r>
              <a:rPr lang="en-IN" sz="2400" dirty="0"/>
              <a:t> </a:t>
            </a:r>
            <a:endParaRPr lang="en-IN" sz="2400" dirty="0"/>
          </a:p>
          <a:p>
            <a:pPr lvl="0"/>
            <a:r>
              <a:rPr lang="en-IN" sz="2400" dirty="0"/>
              <a:t>Orders → </a:t>
            </a:r>
            <a:r>
              <a:rPr lang="en-IN" sz="2400" dirty="0" err="1"/>
              <a:t>order_id</a:t>
            </a:r>
            <a:r>
              <a:rPr lang="en-IN" sz="2400" dirty="0"/>
              <a:t> </a:t>
            </a:r>
            <a:endParaRPr lang="en-IN" sz="2400" dirty="0"/>
          </a:p>
          <a:p>
            <a:pPr lvl="0"/>
            <a:r>
              <a:rPr lang="en-IN" sz="2400" dirty="0" err="1"/>
              <a:t>Order_Item</a:t>
            </a:r>
            <a:r>
              <a:rPr lang="en-IN" sz="2400" dirty="0"/>
              <a:t> → </a:t>
            </a:r>
            <a:r>
              <a:rPr lang="en-IN" sz="2400" dirty="0" err="1"/>
              <a:t>item_id</a:t>
            </a:r>
            <a:r>
              <a:rPr lang="en-IN" sz="2400" dirty="0"/>
              <a:t> </a:t>
            </a:r>
            <a:endParaRPr lang="en-IN" sz="2400" dirty="0"/>
          </a:p>
          <a:p>
            <a:pPr lvl="0"/>
            <a:r>
              <a:rPr lang="en-IN" sz="2400" dirty="0"/>
              <a:t>Payment → </a:t>
            </a:r>
            <a:r>
              <a:rPr lang="en-IN" sz="2400" dirty="0" err="1"/>
              <a:t>payment_id</a:t>
            </a:r>
            <a:r>
              <a:rPr lang="en-IN" sz="2400" dirty="0"/>
              <a:t> </a:t>
            </a:r>
            <a:endParaRPr lang="en-IN" sz="2400" dirty="0"/>
          </a:p>
          <a:p>
            <a:r>
              <a:rPr lang="en-IN" sz="2400" b="1" dirty="0"/>
              <a:t>Foreign Keys</a:t>
            </a:r>
            <a:endParaRPr lang="en-IN" sz="2400" b="1" dirty="0"/>
          </a:p>
          <a:p>
            <a:r>
              <a:rPr lang="en-IN" sz="2400" dirty="0"/>
              <a:t>A </a:t>
            </a:r>
            <a:r>
              <a:rPr lang="en-IN" sz="2400" b="1" dirty="0"/>
              <a:t>Foreign Key</a:t>
            </a:r>
            <a:r>
              <a:rPr lang="en-IN" sz="2400" dirty="0"/>
              <a:t> is an attribute that </a:t>
            </a:r>
            <a:r>
              <a:rPr lang="en-IN" sz="2400" b="1" dirty="0"/>
              <a:t>links one table to another table</a:t>
            </a:r>
            <a:r>
              <a:rPr lang="en-IN" sz="2400" dirty="0"/>
              <a:t> by referring to the Primary Key of another table.</a:t>
            </a:r>
            <a:endParaRPr lang="en-IN" sz="2400" b="1" dirty="0"/>
          </a:p>
          <a:p>
            <a:pPr lvl="0"/>
            <a:r>
              <a:rPr lang="en-IN" sz="2400" dirty="0"/>
              <a:t>Address → </a:t>
            </a:r>
            <a:r>
              <a:rPr lang="en-IN" sz="2400" dirty="0" err="1"/>
              <a:t>customer_id</a:t>
            </a:r>
            <a:r>
              <a:rPr lang="en-IN" sz="2400" dirty="0"/>
              <a:t> </a:t>
            </a:r>
            <a:endParaRPr lang="en-IN" sz="2400" dirty="0"/>
          </a:p>
          <a:p>
            <a:pPr lvl="0"/>
            <a:r>
              <a:rPr lang="en-IN" sz="2400" dirty="0"/>
              <a:t>Category → </a:t>
            </a:r>
            <a:r>
              <a:rPr lang="en-IN" sz="2400" dirty="0" err="1"/>
              <a:t>parent_category_id</a:t>
            </a:r>
            <a:r>
              <a:rPr lang="en-IN" sz="2400" dirty="0"/>
              <a:t> </a:t>
            </a:r>
            <a:endParaRPr lang="en-IN" sz="2400" dirty="0"/>
          </a:p>
          <a:p>
            <a:pPr lvl="0"/>
            <a:r>
              <a:rPr lang="en-IN" sz="2400" dirty="0"/>
              <a:t>Product → </a:t>
            </a:r>
            <a:r>
              <a:rPr lang="en-IN" sz="2400" dirty="0" err="1"/>
              <a:t>category_id</a:t>
            </a:r>
            <a:r>
              <a:rPr lang="en-IN" sz="2400" dirty="0"/>
              <a:t> </a:t>
            </a:r>
            <a:endParaRPr lang="en-IN" sz="2400" dirty="0"/>
          </a:p>
          <a:p>
            <a:pPr lvl="0"/>
            <a:r>
              <a:rPr lang="en-IN" sz="2400" dirty="0"/>
              <a:t>Orders → </a:t>
            </a:r>
            <a:r>
              <a:rPr lang="en-IN" sz="2400" dirty="0" err="1"/>
              <a:t>customer_id</a:t>
            </a:r>
            <a:r>
              <a:rPr lang="en-IN" sz="2400" dirty="0"/>
              <a:t>, </a:t>
            </a:r>
            <a:r>
              <a:rPr lang="en-IN" sz="2400" dirty="0" err="1"/>
              <a:t>address_id</a:t>
            </a:r>
            <a:r>
              <a:rPr lang="en-IN" sz="2400" dirty="0"/>
              <a:t> </a:t>
            </a:r>
            <a:endParaRPr lang="en-IN" sz="2400" dirty="0"/>
          </a:p>
          <a:p>
            <a:pPr lvl="0"/>
            <a:r>
              <a:rPr lang="en-IN" sz="2400" dirty="0" err="1"/>
              <a:t>Order_Item</a:t>
            </a:r>
            <a:r>
              <a:rPr lang="en-IN" sz="2400" dirty="0"/>
              <a:t> → </a:t>
            </a:r>
            <a:r>
              <a:rPr lang="en-IN" sz="2400" dirty="0" err="1"/>
              <a:t>order_id</a:t>
            </a:r>
            <a:r>
              <a:rPr lang="en-IN" sz="2400" dirty="0"/>
              <a:t>, </a:t>
            </a:r>
            <a:r>
              <a:rPr lang="en-IN" sz="2400" dirty="0" err="1"/>
              <a:t>product_id</a:t>
            </a:r>
            <a:r>
              <a:rPr lang="en-IN" sz="2400" dirty="0"/>
              <a:t> </a:t>
            </a:r>
            <a:endParaRPr lang="en-IN" sz="2400" dirty="0"/>
          </a:p>
          <a:p>
            <a:pPr lvl="0"/>
            <a:r>
              <a:rPr lang="en-IN" sz="2400" dirty="0"/>
              <a:t>Payment → </a:t>
            </a:r>
            <a:r>
              <a:rPr lang="en-IN" sz="2400" dirty="0" err="1"/>
              <a:t>order_id</a:t>
            </a:r>
            <a:endParaRPr lang="en-IN" sz="2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4412373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</a:t>
            </a:r>
            <a:endParaRPr lang="en-IN" sz="195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2" name="object 3"/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3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/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3200400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REPOSITORY &amp; TEAM</a:t>
            </a:r>
            <a:endParaRPr lang="en-IN" sz="195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09613" y="2885354"/>
          <a:ext cx="6817360" cy="3205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0105"/>
                <a:gridCol w="3437255"/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Team Member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Responsibilities</a:t>
                      </a:r>
                      <a:endParaRPr lang="en-IN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123914" y="2536640"/>
            <a:ext cx="27238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TEAM RESPONSIBILITIES</a:t>
            </a:r>
            <a:endParaRPr lang="en-IN" b="1" dirty="0"/>
          </a:p>
        </p:txBody>
      </p:sp>
      <p:sp>
        <p:nvSpPr>
          <p:cNvPr id="13" name="TextBox 12"/>
          <p:cNvSpPr txBox="1"/>
          <p:nvPr/>
        </p:nvSpPr>
        <p:spPr>
          <a:xfrm>
            <a:off x="255122" y="1022244"/>
            <a:ext cx="482375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GitHub Repository:</a:t>
            </a:r>
            <a:br>
              <a:rPr lang="en-IN" dirty="0"/>
            </a:br>
            <a:r>
              <a:rPr lang="en-IN" dirty="0"/>
              <a:t>🔗 </a:t>
            </a:r>
            <a:r>
              <a:rPr lang="en-IN" i="1" dirty="0"/>
              <a:t>E-Commerce Order Management System</a:t>
            </a:r>
            <a:endParaRPr lang="en-IN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4412373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  <a:endParaRPr lang="en-IN" sz="195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2" name="object 3"/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3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/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3200400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 &amp; CONSTRAINTS</a:t>
            </a:r>
            <a:endParaRPr lang="en-IN" sz="195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0" y="549250"/>
            <a:ext cx="9829799" cy="7355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/>
              <a:t>Database &amp; Tables</a:t>
            </a:r>
            <a:endParaRPr lang="en-IN" sz="2000" b="1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Created the </a:t>
            </a:r>
            <a:r>
              <a:rPr lang="en-IN" sz="2000" b="1" dirty="0"/>
              <a:t>E-Commerce Order Management</a:t>
            </a:r>
            <a:r>
              <a:rPr lang="en-IN" sz="2000" dirty="0"/>
              <a:t> database. </a:t>
            </a:r>
            <a:endParaRPr lang="en-IN" sz="20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Created tables for </a:t>
            </a:r>
            <a:r>
              <a:rPr lang="en-IN" sz="2000" b="1" dirty="0"/>
              <a:t>Customer, Address, Category, Product, Orders, </a:t>
            </a:r>
            <a:r>
              <a:rPr lang="en-IN" sz="2000" b="1" dirty="0" err="1"/>
              <a:t>Order_Item</a:t>
            </a:r>
            <a:r>
              <a:rPr lang="en-IN" sz="2000" b="1" dirty="0"/>
              <a:t>, and Payment</a:t>
            </a:r>
            <a:r>
              <a:rPr lang="en-IN" sz="2000" dirty="0"/>
              <a:t>. </a:t>
            </a:r>
            <a:endParaRPr lang="en-IN" sz="2000" dirty="0"/>
          </a:p>
          <a:p>
            <a:r>
              <a:rPr lang="en-IN" b="1" dirty="0"/>
              <a:t>Database:</a:t>
            </a:r>
            <a:endParaRPr lang="en-IN" dirty="0"/>
          </a:p>
          <a:p>
            <a:pPr rtl="0"/>
            <a:r>
              <a:rPr lang="en-IN" dirty="0"/>
              <a:t>CREATE DATABASE </a:t>
            </a:r>
            <a:r>
              <a:rPr lang="en-IN" dirty="0" err="1"/>
              <a:t>ECommerce_Order_Management</a:t>
            </a:r>
            <a:r>
              <a:rPr lang="en-IN" dirty="0"/>
              <a:t>;</a:t>
            </a:r>
            <a:endParaRPr lang="en-IN" dirty="0"/>
          </a:p>
          <a:p>
            <a:r>
              <a:rPr lang="en-IN" b="1" dirty="0"/>
              <a:t>Tables Created:</a:t>
            </a:r>
            <a:endParaRPr lang="en-IN" dirty="0"/>
          </a:p>
          <a:p>
            <a:pPr rtl="0"/>
            <a:r>
              <a:rPr lang="en-IN" dirty="0"/>
              <a:t>Customer  Address  Category  Product  Orders  </a:t>
            </a:r>
            <a:r>
              <a:rPr lang="en-IN" dirty="0" err="1"/>
              <a:t>Order_Item</a:t>
            </a:r>
            <a:r>
              <a:rPr lang="en-IN" dirty="0"/>
              <a:t>  Payment</a:t>
            </a:r>
            <a:endParaRPr lang="en-IN" dirty="0"/>
          </a:p>
          <a:p>
            <a:r>
              <a:rPr lang="en-IN" sz="2000" b="1" dirty="0"/>
              <a:t>Constraints Used</a:t>
            </a:r>
            <a:endParaRPr lang="en-IN" sz="2000" b="1" dirty="0"/>
          </a:p>
          <a:p>
            <a:r>
              <a:rPr lang="en-IN" sz="2000" b="1" dirty="0"/>
              <a:t>NOT NULL</a:t>
            </a:r>
            <a:endParaRPr lang="en-IN" sz="20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Ensures mandatory fields cannot be empty. </a:t>
            </a:r>
            <a:endParaRPr lang="en-IN" sz="20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Example: </a:t>
            </a:r>
            <a:r>
              <a:rPr lang="en-IN" sz="2000" dirty="0" err="1"/>
              <a:t>first_name</a:t>
            </a:r>
            <a:r>
              <a:rPr lang="en-IN" sz="2000" dirty="0"/>
              <a:t>, </a:t>
            </a:r>
            <a:r>
              <a:rPr lang="en-IN" sz="2000" dirty="0" err="1"/>
              <a:t>last_name</a:t>
            </a:r>
            <a:r>
              <a:rPr lang="en-IN" sz="2000" dirty="0"/>
              <a:t>, email </a:t>
            </a:r>
            <a:endParaRPr lang="en-IN" sz="2000" dirty="0"/>
          </a:p>
          <a:p>
            <a:r>
              <a:rPr lang="en-IN" sz="2000" b="1" dirty="0"/>
              <a:t>UNIQUE</a:t>
            </a:r>
            <a:endParaRPr lang="en-IN" sz="20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Prevents duplicate values. </a:t>
            </a:r>
            <a:endParaRPr lang="en-IN" sz="20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Example: email, </a:t>
            </a:r>
            <a:r>
              <a:rPr lang="en-IN" sz="2000" dirty="0" err="1"/>
              <a:t>transaction_id</a:t>
            </a:r>
            <a:r>
              <a:rPr lang="en-IN" sz="2000" dirty="0"/>
              <a:t> </a:t>
            </a:r>
            <a:endParaRPr lang="en-IN" sz="2000" dirty="0"/>
          </a:p>
          <a:p>
            <a:r>
              <a:rPr lang="en-IN" sz="2000" b="1" dirty="0"/>
              <a:t>CHECK</a:t>
            </a:r>
            <a:endParaRPr lang="en-IN" sz="20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Ensures valid values are entered. </a:t>
            </a:r>
            <a:endParaRPr lang="en-IN" sz="20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price &gt;= 0 </a:t>
            </a:r>
            <a:endParaRPr lang="en-IN" sz="20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quantity &gt; 0 </a:t>
            </a:r>
            <a:endParaRPr lang="en-IN" sz="2000" dirty="0"/>
          </a:p>
          <a:p>
            <a:r>
              <a:rPr lang="en-IN" sz="2000" b="1" dirty="0"/>
              <a:t>DEFAULT</a:t>
            </a:r>
            <a:endParaRPr lang="en-IN" sz="20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Automatically assigns a value when no value is provided. </a:t>
            </a:r>
            <a:endParaRPr lang="en-IN" sz="20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 err="1"/>
              <a:t>registration_date</a:t>
            </a:r>
            <a:r>
              <a:rPr lang="en-IN" sz="2000" dirty="0"/>
              <a:t> → current date </a:t>
            </a:r>
            <a:endParaRPr lang="en-IN" sz="20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 err="1"/>
              <a:t>order_status</a:t>
            </a:r>
            <a:r>
              <a:rPr lang="en-IN" sz="2000" dirty="0"/>
              <a:t> → Pending </a:t>
            </a:r>
            <a:endParaRPr lang="en-IN" sz="20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status in Payment → Pending</a:t>
            </a:r>
            <a:endParaRPr lang="en-IN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4412373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  <a:endParaRPr lang="en-IN" sz="195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2" name="object 3"/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3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/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3200400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SAMPLE DATA INSERTION</a:t>
            </a:r>
            <a:endParaRPr lang="en-IN" sz="195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90750" y="758857"/>
            <a:ext cx="6781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/>
              <a:t>Table: Customer</a:t>
            </a:r>
            <a:endParaRPr lang="en-IN" sz="1800" b="1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47980" y="1283970"/>
          <a:ext cx="6724650" cy="15360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4930"/>
                <a:gridCol w="1344930"/>
                <a:gridCol w="1344930"/>
                <a:gridCol w="1344930"/>
                <a:gridCol w="1344930"/>
              </a:tblGrid>
              <a:tr h="408305">
                <a:tc>
                  <a:txBody>
                    <a:bodyPr/>
                    <a:lstStyle/>
                    <a:p>
                      <a:pPr marL="457200" marR="0" lvl="1" algn="just">
                        <a:buNone/>
                      </a:pPr>
                      <a:r>
                        <a:rPr lang="en-IN" sz="1200" b="1" dirty="0" err="1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customer_id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marL="457200" marR="0" lvl="1" algn="just">
                        <a:buNone/>
                      </a:pPr>
                      <a:r>
                        <a:rPr lang="en-IN" sz="1200" b="1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first_name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marL="457200" marR="0" lvl="1" algn="just">
                        <a:buNone/>
                      </a:pPr>
                      <a:r>
                        <a:rPr lang="en-IN" sz="1200" b="1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last_name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marL="457200" marR="0" lvl="1" algn="just">
                        <a:buNone/>
                      </a:pPr>
                      <a:r>
                        <a:rPr lang="en-IN" sz="1200" b="1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email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marL="457200" marR="0" lvl="1" algn="just">
                        <a:buNone/>
                      </a:pPr>
                      <a:r>
                        <a:rPr lang="en-IN" sz="1200" b="1" dirty="0" err="1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registration_date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</a:tr>
              <a:tr h="413385">
                <a:tc>
                  <a:txBody>
                    <a:bodyPr/>
                    <a:lstStyle/>
                    <a:p>
                      <a:pPr marL="457200" marR="0" lvl="1" algn="just">
                        <a:buNone/>
                      </a:pPr>
                      <a:r>
                        <a:rPr lang="en-IN" sz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marL="457200" marR="0" lvl="1" algn="just">
                        <a:buNone/>
                      </a:pP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Anita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marL="457200" marR="0" lvl="1" algn="just"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Patel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marL="0" marR="0" lvl="0" algn="just">
                        <a:buNone/>
                      </a:pPr>
                      <a:r>
                        <a:rPr lang="en-IN" sz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anita@mail.com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marL="457200" marR="0" lvl="1" algn="just">
                        <a:buNone/>
                      </a:pPr>
                      <a:r>
                        <a:rPr lang="en-IN" sz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2023-01-15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</a:tr>
              <a:tr h="414655">
                <a:tc>
                  <a:txBody>
                    <a:bodyPr/>
                    <a:lstStyle/>
                    <a:p>
                      <a:pPr marL="457200" marR="0" lvl="1" algn="just">
                        <a:buNone/>
                      </a:pPr>
                      <a:r>
                        <a:rPr lang="en-IN" sz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marL="457200" marR="0" lvl="1" algn="just"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Ramesh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marL="457200" marR="0" lvl="1" algn="just">
                        <a:buNone/>
                      </a:pP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Nair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marL="0" marR="0" lvl="0" algn="just">
                        <a:buNone/>
                      </a:pPr>
                      <a:r>
                        <a:rPr lang="en-IN" sz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ramesh@mail.com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marL="457200" marR="0" lvl="1" algn="just">
                        <a:buNone/>
                      </a:pPr>
                      <a:r>
                        <a:rPr lang="en-IN" sz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2023-03-22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</a:tr>
              <a:tr h="299720">
                <a:tc>
                  <a:txBody>
                    <a:bodyPr/>
                    <a:lstStyle/>
                    <a:p>
                      <a:pPr marL="457200" marR="0" lvl="1" algn="just">
                        <a:buNone/>
                      </a:pPr>
                      <a:r>
                        <a:rPr lang="en-IN" sz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3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marL="457200" marR="0" lvl="1" algn="just"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Divya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marL="457200" marR="0" lvl="1" algn="just"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Singh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marL="0" marR="0" lvl="0" algn="just">
                        <a:buNone/>
                      </a:pPr>
                      <a:r>
                        <a:rPr lang="en-IN" sz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divya@mail.com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marL="457200" marR="0" lvl="1" algn="just">
                        <a:buNone/>
                      </a:pPr>
                      <a:r>
                        <a:rPr lang="en-IN" sz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2024-06-10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290750" y="2759590"/>
            <a:ext cx="18004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800" b="1" dirty="0"/>
              <a:t>Table: Product</a:t>
            </a:r>
            <a:endParaRPr lang="en-IN" sz="1800" b="1" dirty="0"/>
          </a:p>
          <a:p>
            <a:endParaRPr lang="en-IN" dirty="0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6950" y="3200400"/>
          <a:ext cx="6705600" cy="1427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1120"/>
                <a:gridCol w="1341120"/>
                <a:gridCol w="1341120"/>
                <a:gridCol w="1341120"/>
                <a:gridCol w="1341120"/>
              </a:tblGrid>
              <a:tr h="314960">
                <a:tc>
                  <a:txBody>
                    <a:bodyPr/>
                    <a:lstStyle/>
                    <a:p>
                      <a:pPr marL="0" marR="0" lvl="0" algn="ctr">
                        <a:buNone/>
                      </a:pPr>
                      <a:r>
                        <a:rPr lang="en-IN" sz="1200" b="1" dirty="0" err="1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product_id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marL="0" marR="0" lvl="0" algn="ctr">
                        <a:buNone/>
                      </a:pPr>
                      <a:r>
                        <a:rPr lang="en-IN" sz="1200" b="1" dirty="0" err="1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product_name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marL="0" marR="0" lvl="0" algn="ctr">
                        <a:buNone/>
                      </a:pPr>
                      <a:r>
                        <a:rPr lang="en-IN" sz="1200" b="1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price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marL="0" marR="0" lvl="0" algn="ctr">
                        <a:buNone/>
                      </a:pPr>
                      <a:r>
                        <a:rPr lang="en-IN" sz="1200" b="1" dirty="0" err="1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stock_quantity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marL="0" marR="0" lvl="0" algn="ctr">
                        <a:buNone/>
                      </a:pPr>
                      <a:r>
                        <a:rPr lang="en-IN" sz="1200" b="1" dirty="0" err="1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category_id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</a:tr>
              <a:tr h="370840">
                <a:tc>
                  <a:txBody>
                    <a:bodyPr/>
                    <a:lstStyle/>
                    <a:p>
                      <a:pPr marL="457200" marR="0" lvl="1">
                        <a:buNone/>
                      </a:pPr>
                      <a:r>
                        <a:rPr lang="en-IN" sz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marL="457200" marR="0" lvl="1">
                        <a:buNone/>
                      </a:pPr>
                      <a:r>
                        <a:rPr lang="en-IN" sz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Samsung Galaxy S24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marL="457200" marR="0" lvl="1">
                        <a:buNone/>
                      </a:pPr>
                      <a:r>
                        <a:rPr lang="en-IN" sz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65000.00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marL="457200" marR="0" lvl="1">
                        <a:buNone/>
                      </a:pPr>
                      <a:r>
                        <a:rPr lang="en-IN" sz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50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marL="457200" marR="0" lvl="1">
                        <a:buNone/>
                      </a:pPr>
                      <a:r>
                        <a:rPr lang="en-IN" sz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</a:tr>
              <a:tr h="370840">
                <a:tc>
                  <a:txBody>
                    <a:bodyPr/>
                    <a:lstStyle/>
                    <a:p>
                      <a:pPr marL="457200" marR="0" lvl="1">
                        <a:buNone/>
                      </a:pPr>
                      <a:r>
                        <a:rPr lang="en-IN" sz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marL="457200" marR="0" lvl="1">
                        <a:buNone/>
                      </a:pPr>
                      <a:r>
                        <a:rPr lang="en-IN" sz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Laptop HP Pavilion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marL="457200" marR="0" lvl="1">
                        <a:buNone/>
                      </a:pPr>
                      <a:r>
                        <a:rPr lang="en-IN" sz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55000.00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marL="457200" marR="0" lvl="1">
                        <a:buNone/>
                      </a:pPr>
                      <a:r>
                        <a:rPr lang="en-IN" sz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30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marL="457200" marR="0" lvl="1">
                        <a:buNone/>
                      </a:pPr>
                      <a:r>
                        <a:rPr lang="en-IN" sz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</a:tr>
              <a:tr h="370840">
                <a:tc>
                  <a:txBody>
                    <a:bodyPr/>
                    <a:lstStyle/>
                    <a:p>
                      <a:pPr marL="457200" marR="0" lvl="1">
                        <a:buNone/>
                      </a:pPr>
                      <a:r>
                        <a:rPr lang="en-IN" sz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3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marL="457200" marR="0" lvl="1">
                        <a:buNone/>
                      </a:pPr>
                      <a:r>
                        <a:rPr lang="en-IN" sz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Cotton T-Shirt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marL="457200" marR="0" lvl="1">
                        <a:buNone/>
                      </a:pPr>
                      <a:r>
                        <a:rPr lang="en-IN" sz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499.00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marL="457200" marR="0" lvl="1">
                        <a:buNone/>
                      </a:pPr>
                      <a:r>
                        <a:rPr lang="en-IN" sz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200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marL="457200" marR="0" lvl="1">
                        <a:buNone/>
                      </a:pPr>
                      <a:r>
                        <a:rPr lang="en-IN" sz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286575" y="4714156"/>
            <a:ext cx="168507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800" b="1" dirty="0"/>
              <a:t>Table: Orders</a:t>
            </a:r>
            <a:endParaRPr lang="en-IN" sz="1800" b="1" dirty="0"/>
          </a:p>
          <a:p>
            <a:endParaRPr lang="en-IN" dirty="0"/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66950" y="5213696"/>
          <a:ext cx="6534975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0495"/>
                <a:gridCol w="1341120"/>
                <a:gridCol w="1341120"/>
                <a:gridCol w="1341120"/>
                <a:gridCol w="1341120"/>
              </a:tblGrid>
              <a:tr h="370840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IN" sz="1400" b="1" dirty="0" err="1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order_id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IN" sz="1400" b="1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customer_id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IN" sz="1400" b="1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address_id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IN" sz="1400" b="1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order_date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IN" sz="1400" b="1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order_status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</a:tr>
              <a:tr h="370840">
                <a:tc>
                  <a:txBody>
                    <a:bodyPr/>
                    <a:lstStyle/>
                    <a:p>
                      <a:pPr marL="457200" marR="0" lvl="1">
                        <a:buNone/>
                      </a:pPr>
                      <a:r>
                        <a:rPr lang="en-IN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marL="457200" marR="0" lvl="1">
                        <a:buNone/>
                      </a:pPr>
                      <a:r>
                        <a:rPr lang="en-IN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marL="457200" marR="0" lvl="1">
                        <a:buNone/>
                      </a:pPr>
                      <a:r>
                        <a:rPr lang="en-IN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IN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2024-08-01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IN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Delivered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</a:tr>
              <a:tr h="370840">
                <a:tc>
                  <a:txBody>
                    <a:bodyPr/>
                    <a:lstStyle/>
                    <a:p>
                      <a:pPr marL="457200" marR="0" lvl="1">
                        <a:buNone/>
                      </a:pPr>
                      <a:r>
                        <a:rPr lang="en-IN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marL="457200" marR="0" lvl="1">
                        <a:buNone/>
                      </a:pPr>
                      <a:r>
                        <a:rPr lang="en-IN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marL="457200" marR="0" lvl="1">
                        <a:buNone/>
                      </a:pPr>
                      <a:r>
                        <a:rPr lang="en-IN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IN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2024-08-05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IN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Shipped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</a:tr>
              <a:tr h="370840">
                <a:tc>
                  <a:txBody>
                    <a:bodyPr/>
                    <a:lstStyle/>
                    <a:p>
                      <a:pPr marL="457200" marR="0" lvl="1">
                        <a:buNone/>
                      </a:pPr>
                      <a:r>
                        <a:rPr lang="en-IN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3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marL="457200" marR="0" lvl="1">
                        <a:buNone/>
                      </a:pPr>
                      <a:r>
                        <a:rPr lang="en-IN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marL="457200" marR="0" lvl="1">
                        <a:buNone/>
                      </a:pPr>
                      <a:r>
                        <a:rPr lang="en-IN" sz="14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IN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2024-08-10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IN" sz="14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Pending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4412373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  <a:endParaRPr lang="en-IN" sz="195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2" name="object 3"/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3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/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3200400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DDL, DML &amp; DQL OPERATIONS</a:t>
            </a:r>
            <a:endParaRPr lang="en-IN" sz="195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90750" y="843317"/>
            <a:ext cx="6781800" cy="66479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🔹 DDL – Data Definition Language</a:t>
            </a:r>
            <a:endParaRPr lang="en-IN" sz="2400" b="1" dirty="0"/>
          </a:p>
          <a:p>
            <a:r>
              <a:rPr lang="en-IN" sz="2400" dirty="0"/>
              <a:t>Used to create and modify database structures.</a:t>
            </a:r>
            <a:endParaRPr lang="en-IN" sz="2400" dirty="0"/>
          </a:p>
          <a:p>
            <a:r>
              <a:rPr lang="en-IN" sz="1800" dirty="0"/>
              <a:t>CREATE TABLE Customer (</a:t>
            </a:r>
            <a:endParaRPr lang="en-IN" sz="1800" dirty="0"/>
          </a:p>
          <a:p>
            <a:r>
              <a:rPr lang="en-IN" sz="1800" dirty="0"/>
              <a:t>  </a:t>
            </a:r>
            <a:r>
              <a:rPr lang="en-IN" sz="1800" dirty="0" err="1"/>
              <a:t>customer_id</a:t>
            </a:r>
            <a:r>
              <a:rPr lang="en-IN" sz="1800" dirty="0"/>
              <a:t>       INT          PRIMARY KEY AUTO_INCREMENT,</a:t>
            </a:r>
            <a:endParaRPr lang="en-IN" sz="1800" dirty="0"/>
          </a:p>
          <a:p>
            <a:r>
              <a:rPr lang="en-IN" sz="1800" dirty="0"/>
              <a:t>  </a:t>
            </a:r>
            <a:r>
              <a:rPr lang="en-IN" sz="1800" dirty="0" err="1"/>
              <a:t>first_name</a:t>
            </a:r>
            <a:r>
              <a:rPr lang="en-IN" sz="1800" dirty="0"/>
              <a:t>        VARCHAR(50)  NOT NULL,</a:t>
            </a:r>
            <a:endParaRPr lang="en-IN" sz="1800" dirty="0"/>
          </a:p>
          <a:p>
            <a:r>
              <a:rPr lang="en-IN" sz="1800" dirty="0"/>
              <a:t>  </a:t>
            </a:r>
            <a:r>
              <a:rPr lang="en-IN" sz="1800" dirty="0" err="1"/>
              <a:t>last_name</a:t>
            </a:r>
            <a:r>
              <a:rPr lang="en-IN" sz="1800" dirty="0"/>
              <a:t>         VARCHAR(50)  NOT NULL,</a:t>
            </a:r>
            <a:endParaRPr lang="en-IN" sz="1800" dirty="0"/>
          </a:p>
          <a:p>
            <a:r>
              <a:rPr lang="en-IN" sz="1800" dirty="0"/>
              <a:t>  email             VARCHAR(100) UNIQUE NOT NULL,</a:t>
            </a:r>
            <a:endParaRPr lang="en-IN" sz="1800" dirty="0"/>
          </a:p>
          <a:p>
            <a:r>
              <a:rPr lang="en-IN" sz="1800" dirty="0"/>
              <a:t>  </a:t>
            </a:r>
            <a:r>
              <a:rPr lang="en-IN" sz="1800" dirty="0" err="1"/>
              <a:t>registration_date</a:t>
            </a:r>
            <a:r>
              <a:rPr lang="en-IN" sz="1800" dirty="0"/>
              <a:t> DATE         DEFAULT (CURRENT_DATE)</a:t>
            </a:r>
            <a:endParaRPr lang="en-IN" sz="1800" dirty="0"/>
          </a:p>
          <a:p>
            <a:r>
              <a:rPr lang="en-IN" sz="1800" dirty="0"/>
              <a:t>);</a:t>
            </a:r>
            <a:endParaRPr lang="en-IN" sz="1800" dirty="0"/>
          </a:p>
          <a:p>
            <a:r>
              <a:rPr lang="en-IN" sz="1800" dirty="0"/>
              <a:t> </a:t>
            </a:r>
            <a:endParaRPr lang="en-IN" sz="1800" dirty="0"/>
          </a:p>
          <a:p>
            <a:r>
              <a:rPr lang="en-IN" sz="1800" dirty="0"/>
              <a:t>CREATE TABLE Address (</a:t>
            </a:r>
            <a:endParaRPr lang="en-IN" sz="1800" dirty="0"/>
          </a:p>
          <a:p>
            <a:r>
              <a:rPr lang="en-IN" sz="1800" dirty="0"/>
              <a:t>  </a:t>
            </a:r>
            <a:r>
              <a:rPr lang="en-IN" sz="1800" dirty="0" err="1"/>
              <a:t>address_id</a:t>
            </a:r>
            <a:r>
              <a:rPr lang="en-IN" sz="1800" dirty="0"/>
              <a:t>   INT          PRIMARY KEY AUTO_INCREMENT,</a:t>
            </a:r>
            <a:endParaRPr lang="en-IN" sz="1800" dirty="0"/>
          </a:p>
          <a:p>
            <a:r>
              <a:rPr lang="en-IN" sz="1800" dirty="0"/>
              <a:t>  </a:t>
            </a:r>
            <a:r>
              <a:rPr lang="en-IN" sz="1800" dirty="0" err="1"/>
              <a:t>customer_id</a:t>
            </a:r>
            <a:r>
              <a:rPr lang="en-IN" sz="1800" dirty="0"/>
              <a:t>  INT          NOT NULL,</a:t>
            </a:r>
            <a:endParaRPr lang="en-IN" sz="1800" dirty="0"/>
          </a:p>
          <a:p>
            <a:r>
              <a:rPr lang="en-IN" sz="1800" dirty="0"/>
              <a:t>  street       VARCHAR(200),</a:t>
            </a:r>
            <a:endParaRPr lang="en-IN" sz="1800" dirty="0"/>
          </a:p>
          <a:p>
            <a:r>
              <a:rPr lang="en-IN" sz="1800" dirty="0"/>
              <a:t>  city         VARCHAR(100),</a:t>
            </a:r>
            <a:endParaRPr lang="en-IN" sz="1800" dirty="0"/>
          </a:p>
          <a:p>
            <a:r>
              <a:rPr lang="en-IN" sz="1800" dirty="0"/>
              <a:t>  state        VARCHAR(100),</a:t>
            </a:r>
            <a:endParaRPr lang="en-IN" sz="1800" dirty="0"/>
          </a:p>
          <a:p>
            <a:r>
              <a:rPr lang="en-IN" sz="1800" dirty="0"/>
              <a:t>  </a:t>
            </a:r>
            <a:r>
              <a:rPr lang="en-IN" sz="1800" dirty="0" err="1"/>
              <a:t>pincode</a:t>
            </a:r>
            <a:r>
              <a:rPr lang="en-IN" sz="1800" dirty="0"/>
              <a:t>      VARCHAR(10),</a:t>
            </a:r>
            <a:endParaRPr lang="en-IN" sz="1800" dirty="0"/>
          </a:p>
          <a:p>
            <a:r>
              <a:rPr lang="en-IN" sz="1800" dirty="0"/>
              <a:t>  </a:t>
            </a:r>
            <a:r>
              <a:rPr lang="en-IN" sz="1800" dirty="0" err="1"/>
              <a:t>address_type</a:t>
            </a:r>
            <a:r>
              <a:rPr lang="en-IN" sz="1800" dirty="0"/>
              <a:t> VARCHAR(20)  DEFAULT "Home",</a:t>
            </a:r>
            <a:endParaRPr lang="en-IN" sz="1800" dirty="0"/>
          </a:p>
          <a:p>
            <a:r>
              <a:rPr lang="en-IN" sz="1800" dirty="0"/>
              <a:t>  FOREIGN KEY (</a:t>
            </a:r>
            <a:r>
              <a:rPr lang="en-IN" sz="1800" dirty="0" err="1"/>
              <a:t>customer_id</a:t>
            </a:r>
            <a:r>
              <a:rPr lang="en-IN" sz="1800" dirty="0"/>
              <a:t>) REFERENCES Customer(</a:t>
            </a:r>
            <a:r>
              <a:rPr lang="en-IN" sz="1800" dirty="0" err="1"/>
              <a:t>customer_id</a:t>
            </a:r>
            <a:r>
              <a:rPr lang="en-IN" sz="1800" dirty="0"/>
              <a:t>)</a:t>
            </a:r>
            <a:endParaRPr lang="en-IN" sz="1800" dirty="0"/>
          </a:p>
          <a:p>
            <a:r>
              <a:rPr lang="en-IN" sz="1800" dirty="0"/>
              <a:t>);</a:t>
            </a:r>
            <a:endParaRPr lang="en-IN" sz="1800" dirty="0"/>
          </a:p>
          <a:p>
            <a:r>
              <a:rPr lang="en-IN" sz="1800" dirty="0"/>
              <a:t> </a:t>
            </a:r>
            <a:endParaRPr lang="en-IN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4412373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  <a:endParaRPr lang="en-IN" sz="195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2" name="object 3"/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3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/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3200400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DDL, DML &amp; DQL OPERATIONS</a:t>
            </a:r>
            <a:endParaRPr lang="en-IN" sz="195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90750" y="825674"/>
            <a:ext cx="5424250" cy="69249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/>
              <a:t>CREATE TABLE Category (</a:t>
            </a:r>
            <a:endParaRPr lang="en-IN" sz="1200" dirty="0"/>
          </a:p>
          <a:p>
            <a:r>
              <a:rPr lang="en-IN" sz="1200" dirty="0"/>
              <a:t>  </a:t>
            </a:r>
            <a:r>
              <a:rPr lang="en-IN" sz="1200" dirty="0" err="1"/>
              <a:t>category_id</a:t>
            </a:r>
            <a:r>
              <a:rPr lang="en-IN" sz="1200" dirty="0"/>
              <a:t>        INT          PRIMARY KEY AUTO_INCREMENT,</a:t>
            </a:r>
            <a:endParaRPr lang="en-IN" sz="1200" dirty="0"/>
          </a:p>
          <a:p>
            <a:r>
              <a:rPr lang="en-IN" sz="1200" dirty="0"/>
              <a:t>  </a:t>
            </a:r>
            <a:r>
              <a:rPr lang="en-IN" sz="1200" dirty="0" err="1"/>
              <a:t>category_name</a:t>
            </a:r>
            <a:r>
              <a:rPr lang="en-IN" sz="1200" dirty="0"/>
              <a:t>      VARCHAR(100) NOT NULL UNIQUE,</a:t>
            </a:r>
            <a:endParaRPr lang="en-IN" sz="1200" dirty="0"/>
          </a:p>
          <a:p>
            <a:r>
              <a:rPr lang="en-IN" sz="1200" dirty="0"/>
              <a:t>  </a:t>
            </a:r>
            <a:r>
              <a:rPr lang="en-IN" sz="1200" dirty="0" err="1"/>
              <a:t>parent_category_id</a:t>
            </a:r>
            <a:r>
              <a:rPr lang="en-IN" sz="1200" dirty="0"/>
              <a:t> INT,</a:t>
            </a:r>
            <a:endParaRPr lang="en-IN" sz="1200" dirty="0"/>
          </a:p>
          <a:p>
            <a:r>
              <a:rPr lang="en-IN" sz="1200" dirty="0"/>
              <a:t>  FOREIGN KEY (</a:t>
            </a:r>
            <a:r>
              <a:rPr lang="en-IN" sz="1200" dirty="0" err="1"/>
              <a:t>parent_category_id</a:t>
            </a:r>
            <a:r>
              <a:rPr lang="en-IN" sz="1200" dirty="0"/>
              <a:t>) REFERENCES Category(</a:t>
            </a:r>
            <a:r>
              <a:rPr lang="en-IN" sz="1200" dirty="0" err="1"/>
              <a:t>category_id</a:t>
            </a:r>
            <a:r>
              <a:rPr lang="en-IN" sz="1200" dirty="0"/>
              <a:t>)</a:t>
            </a:r>
            <a:endParaRPr lang="en-IN" sz="1200" dirty="0"/>
          </a:p>
          <a:p>
            <a:r>
              <a:rPr lang="en-IN" sz="1200" dirty="0"/>
              <a:t>);</a:t>
            </a:r>
            <a:endParaRPr lang="en-IN" sz="1200" dirty="0"/>
          </a:p>
          <a:p>
            <a:r>
              <a:rPr lang="en-IN" sz="1200" dirty="0"/>
              <a:t> </a:t>
            </a:r>
            <a:endParaRPr lang="en-IN" sz="1200" dirty="0"/>
          </a:p>
          <a:p>
            <a:r>
              <a:rPr lang="en-IN" sz="1200" dirty="0"/>
              <a:t>CREATE TABLE Product (</a:t>
            </a:r>
            <a:endParaRPr lang="en-IN" sz="1200" dirty="0"/>
          </a:p>
          <a:p>
            <a:r>
              <a:rPr lang="en-IN" sz="1200" dirty="0"/>
              <a:t>  </a:t>
            </a:r>
            <a:r>
              <a:rPr lang="en-IN" sz="1200" dirty="0" err="1"/>
              <a:t>product_id</a:t>
            </a:r>
            <a:r>
              <a:rPr lang="en-IN" sz="1200" dirty="0"/>
              <a:t>     INT           PRIMARY KEY AUTO_INCREMENT,</a:t>
            </a:r>
            <a:endParaRPr lang="en-IN" sz="1200" dirty="0"/>
          </a:p>
          <a:p>
            <a:r>
              <a:rPr lang="en-IN" sz="1200" dirty="0"/>
              <a:t>  </a:t>
            </a:r>
            <a:r>
              <a:rPr lang="en-IN" sz="1200" dirty="0" err="1"/>
              <a:t>product_name</a:t>
            </a:r>
            <a:r>
              <a:rPr lang="en-IN" sz="1200" dirty="0"/>
              <a:t>   VARCHAR(200)  NOT NULL,</a:t>
            </a:r>
            <a:endParaRPr lang="en-IN" sz="1200" dirty="0"/>
          </a:p>
          <a:p>
            <a:r>
              <a:rPr lang="en-IN" sz="1200" dirty="0"/>
              <a:t>  description    TEXT,</a:t>
            </a:r>
            <a:endParaRPr lang="en-IN" sz="1200" dirty="0"/>
          </a:p>
          <a:p>
            <a:r>
              <a:rPr lang="en-IN" sz="1200" dirty="0"/>
              <a:t>  price          DECIMAL(10,2) NOT NULL CHECK (price &gt;= 0),</a:t>
            </a:r>
            <a:endParaRPr lang="en-IN" sz="1200" dirty="0"/>
          </a:p>
          <a:p>
            <a:r>
              <a:rPr lang="en-IN" sz="1200" dirty="0"/>
              <a:t>  </a:t>
            </a:r>
            <a:r>
              <a:rPr lang="en-IN" sz="1200" dirty="0" err="1"/>
              <a:t>stock_quantity</a:t>
            </a:r>
            <a:r>
              <a:rPr lang="en-IN" sz="1200" dirty="0"/>
              <a:t> INT           DEFAULT 0,</a:t>
            </a:r>
            <a:endParaRPr lang="en-IN" sz="1200" dirty="0"/>
          </a:p>
          <a:p>
            <a:r>
              <a:rPr lang="en-IN" sz="1200" dirty="0"/>
              <a:t>  </a:t>
            </a:r>
            <a:r>
              <a:rPr lang="en-IN" sz="1200" dirty="0" err="1"/>
              <a:t>category_id</a:t>
            </a:r>
            <a:r>
              <a:rPr lang="en-IN" sz="1200" dirty="0"/>
              <a:t>    INT,</a:t>
            </a:r>
            <a:endParaRPr lang="en-IN" sz="1200" dirty="0"/>
          </a:p>
          <a:p>
            <a:r>
              <a:rPr lang="en-IN" sz="1200" dirty="0"/>
              <a:t>  FOREIGN KEY (</a:t>
            </a:r>
            <a:r>
              <a:rPr lang="en-IN" sz="1200" dirty="0" err="1"/>
              <a:t>category_id</a:t>
            </a:r>
            <a:r>
              <a:rPr lang="en-IN" sz="1200" dirty="0"/>
              <a:t>) REFERENCES Category(</a:t>
            </a:r>
            <a:r>
              <a:rPr lang="en-IN" sz="1200" dirty="0" err="1"/>
              <a:t>category_id</a:t>
            </a:r>
            <a:r>
              <a:rPr lang="en-IN" sz="1200" dirty="0"/>
              <a:t>)</a:t>
            </a:r>
            <a:endParaRPr lang="en-IN" sz="1200" dirty="0"/>
          </a:p>
          <a:p>
            <a:r>
              <a:rPr lang="en-IN" sz="1200" dirty="0"/>
              <a:t>);</a:t>
            </a:r>
            <a:endParaRPr lang="en-IN" sz="1200" dirty="0"/>
          </a:p>
          <a:p>
            <a:r>
              <a:rPr lang="en-IN" sz="1200" dirty="0"/>
              <a:t> </a:t>
            </a:r>
            <a:endParaRPr lang="en-IN" sz="1200" dirty="0"/>
          </a:p>
          <a:p>
            <a:r>
              <a:rPr lang="en-IN" sz="1200" dirty="0"/>
              <a:t>CREATE TABLE Orders (</a:t>
            </a:r>
            <a:endParaRPr lang="en-IN" sz="1200" dirty="0"/>
          </a:p>
          <a:p>
            <a:r>
              <a:rPr lang="en-IN" sz="1200" dirty="0"/>
              <a:t>  </a:t>
            </a:r>
            <a:r>
              <a:rPr lang="en-IN" sz="1200" dirty="0" err="1"/>
              <a:t>order_id</a:t>
            </a:r>
            <a:r>
              <a:rPr lang="en-IN" sz="1200" dirty="0"/>
              <a:t>     INT         PRIMARY KEY AUTO_INCREMENT,</a:t>
            </a:r>
            <a:endParaRPr lang="en-IN" sz="1200" dirty="0"/>
          </a:p>
          <a:p>
            <a:r>
              <a:rPr lang="en-IN" sz="1200" dirty="0"/>
              <a:t>  </a:t>
            </a:r>
            <a:r>
              <a:rPr lang="en-IN" sz="1200" dirty="0" err="1"/>
              <a:t>customer_id</a:t>
            </a:r>
            <a:r>
              <a:rPr lang="en-IN" sz="1200" dirty="0"/>
              <a:t>  INT         NOT NULL,</a:t>
            </a:r>
            <a:endParaRPr lang="en-IN" sz="1200" dirty="0"/>
          </a:p>
          <a:p>
            <a:r>
              <a:rPr lang="en-IN" sz="1200" dirty="0"/>
              <a:t>  </a:t>
            </a:r>
            <a:r>
              <a:rPr lang="en-IN" sz="1200" dirty="0" err="1"/>
              <a:t>address_id</a:t>
            </a:r>
            <a:r>
              <a:rPr lang="en-IN" sz="1200" dirty="0"/>
              <a:t>   INT,</a:t>
            </a:r>
            <a:endParaRPr lang="en-IN" sz="1200" dirty="0"/>
          </a:p>
          <a:p>
            <a:r>
              <a:rPr lang="en-IN" sz="1200" dirty="0"/>
              <a:t>  </a:t>
            </a:r>
            <a:r>
              <a:rPr lang="en-IN" sz="1200" dirty="0" err="1"/>
              <a:t>order_date</a:t>
            </a:r>
            <a:r>
              <a:rPr lang="en-IN" sz="1200" dirty="0"/>
              <a:t>   DATE        DEFAULT (CURRENT_DATE),</a:t>
            </a:r>
            <a:endParaRPr lang="en-IN" sz="1200" dirty="0"/>
          </a:p>
          <a:p>
            <a:r>
              <a:rPr lang="en-IN" sz="1200" dirty="0"/>
              <a:t>  </a:t>
            </a:r>
            <a:r>
              <a:rPr lang="en-IN" sz="1200" dirty="0" err="1"/>
              <a:t>order_status</a:t>
            </a:r>
            <a:r>
              <a:rPr lang="en-IN" sz="1200" dirty="0"/>
              <a:t> VARCHAR(30) DEFAULT "Pending",</a:t>
            </a:r>
            <a:endParaRPr lang="en-IN" sz="1200" dirty="0"/>
          </a:p>
          <a:p>
            <a:r>
              <a:rPr lang="en-IN" sz="1200" dirty="0"/>
              <a:t>  FOREIGN KEY (</a:t>
            </a:r>
            <a:r>
              <a:rPr lang="en-IN" sz="1200" dirty="0" err="1"/>
              <a:t>customer_id</a:t>
            </a:r>
            <a:r>
              <a:rPr lang="en-IN" sz="1200" dirty="0"/>
              <a:t>) REFERENCES Customer(</a:t>
            </a:r>
            <a:r>
              <a:rPr lang="en-IN" sz="1200" dirty="0" err="1"/>
              <a:t>customer_id</a:t>
            </a:r>
            <a:r>
              <a:rPr lang="en-IN" sz="1200" dirty="0"/>
              <a:t>),</a:t>
            </a:r>
            <a:endParaRPr lang="en-IN" sz="1200" dirty="0"/>
          </a:p>
          <a:p>
            <a:r>
              <a:rPr lang="en-IN" sz="1200" dirty="0"/>
              <a:t>  FOREIGN KEY (</a:t>
            </a:r>
            <a:r>
              <a:rPr lang="en-IN" sz="1200" dirty="0" err="1"/>
              <a:t>address_id</a:t>
            </a:r>
            <a:r>
              <a:rPr lang="en-IN" sz="1200" dirty="0"/>
              <a:t>)  REFERENCES Address(</a:t>
            </a:r>
            <a:r>
              <a:rPr lang="en-IN" sz="1200" dirty="0" err="1"/>
              <a:t>address_id</a:t>
            </a:r>
            <a:r>
              <a:rPr lang="en-IN" sz="1200" dirty="0"/>
              <a:t>)</a:t>
            </a:r>
            <a:endParaRPr lang="en-IN" sz="1200" dirty="0"/>
          </a:p>
          <a:p>
            <a:r>
              <a:rPr lang="en-IN" sz="1200" dirty="0"/>
              <a:t>);</a:t>
            </a:r>
            <a:endParaRPr lang="en-IN" sz="1200" dirty="0"/>
          </a:p>
          <a:p>
            <a:r>
              <a:rPr lang="en-IN" sz="1200" dirty="0"/>
              <a:t> </a:t>
            </a:r>
            <a:endParaRPr lang="en-IN" sz="1200" dirty="0"/>
          </a:p>
          <a:p>
            <a:r>
              <a:rPr lang="en-IN" sz="1200" dirty="0"/>
              <a:t>CREATE TABLE </a:t>
            </a:r>
            <a:r>
              <a:rPr lang="en-IN" sz="1200" dirty="0" err="1"/>
              <a:t>Order_Item</a:t>
            </a:r>
            <a:r>
              <a:rPr lang="en-IN" sz="1200" dirty="0"/>
              <a:t> (</a:t>
            </a:r>
            <a:endParaRPr lang="en-IN" sz="1200" dirty="0"/>
          </a:p>
          <a:p>
            <a:r>
              <a:rPr lang="en-IN" sz="1200" dirty="0"/>
              <a:t>  </a:t>
            </a:r>
            <a:r>
              <a:rPr lang="en-IN" sz="1200" dirty="0" err="1"/>
              <a:t>item_id</a:t>
            </a:r>
            <a:r>
              <a:rPr lang="en-IN" sz="1200" dirty="0"/>
              <a:t>    INT           PRIMARY KEY AUTO_INCREMENT,</a:t>
            </a:r>
            <a:endParaRPr lang="en-IN" sz="1200" dirty="0"/>
          </a:p>
          <a:p>
            <a:r>
              <a:rPr lang="en-IN" sz="1200" dirty="0"/>
              <a:t>  </a:t>
            </a:r>
            <a:r>
              <a:rPr lang="en-IN" sz="1200" dirty="0" err="1"/>
              <a:t>order_id</a:t>
            </a:r>
            <a:r>
              <a:rPr lang="en-IN" sz="1200" dirty="0"/>
              <a:t>   INT           NOT NULL,</a:t>
            </a:r>
            <a:endParaRPr lang="en-IN" sz="1200" dirty="0"/>
          </a:p>
          <a:p>
            <a:r>
              <a:rPr lang="en-IN" sz="1200" dirty="0"/>
              <a:t>  </a:t>
            </a:r>
            <a:r>
              <a:rPr lang="en-IN" sz="1200" dirty="0" err="1"/>
              <a:t>product_id</a:t>
            </a:r>
            <a:r>
              <a:rPr lang="en-IN" sz="1200" dirty="0"/>
              <a:t> INT           NOT NULL,</a:t>
            </a:r>
            <a:endParaRPr lang="en-IN" sz="1200" dirty="0"/>
          </a:p>
          <a:p>
            <a:r>
              <a:rPr lang="en-IN" sz="1200" dirty="0"/>
              <a:t>  quantity   INT           NOT NULL CHECK (quantity &gt; 0),</a:t>
            </a:r>
            <a:endParaRPr lang="en-IN" sz="1200" dirty="0"/>
          </a:p>
          <a:p>
            <a:r>
              <a:rPr lang="en-IN" sz="1200" dirty="0"/>
              <a:t>  </a:t>
            </a:r>
            <a:r>
              <a:rPr lang="en-IN" sz="1200" dirty="0" err="1"/>
              <a:t>unit_price</a:t>
            </a:r>
            <a:r>
              <a:rPr lang="en-IN" sz="1200" dirty="0"/>
              <a:t> DECIMAL(10,2) NOT NULL,</a:t>
            </a:r>
            <a:endParaRPr lang="en-IN" sz="1200" dirty="0"/>
          </a:p>
          <a:p>
            <a:r>
              <a:rPr lang="en-IN" sz="1200" dirty="0"/>
              <a:t>  FOREIGN KEY (</a:t>
            </a:r>
            <a:r>
              <a:rPr lang="en-IN" sz="1200" dirty="0" err="1"/>
              <a:t>order_id</a:t>
            </a:r>
            <a:r>
              <a:rPr lang="en-IN" sz="1200" dirty="0"/>
              <a:t>)   REFERENCES Orders(</a:t>
            </a:r>
            <a:r>
              <a:rPr lang="en-IN" sz="1200" dirty="0" err="1"/>
              <a:t>order_id</a:t>
            </a:r>
            <a:r>
              <a:rPr lang="en-IN" sz="1200" dirty="0"/>
              <a:t>),</a:t>
            </a:r>
            <a:endParaRPr lang="en-IN" sz="1200" dirty="0"/>
          </a:p>
          <a:p>
            <a:r>
              <a:rPr lang="en-IN" sz="1200" dirty="0"/>
              <a:t>  FOREIGN KEY (</a:t>
            </a:r>
            <a:r>
              <a:rPr lang="en-IN" sz="1200" dirty="0" err="1"/>
              <a:t>product_id</a:t>
            </a:r>
            <a:r>
              <a:rPr lang="en-IN" sz="1200" dirty="0"/>
              <a:t>) REFERENCES Product(</a:t>
            </a:r>
            <a:r>
              <a:rPr lang="en-IN" sz="1200" dirty="0" err="1"/>
              <a:t>product_id</a:t>
            </a:r>
            <a:r>
              <a:rPr lang="en-IN" sz="1200" dirty="0"/>
              <a:t>)</a:t>
            </a:r>
            <a:endParaRPr lang="en-IN" sz="1200" dirty="0"/>
          </a:p>
          <a:p>
            <a:r>
              <a:rPr lang="en-IN" sz="1200" dirty="0"/>
              <a:t>);</a:t>
            </a:r>
            <a:endParaRPr lang="en-IN" sz="1200" dirty="0"/>
          </a:p>
          <a:p>
            <a:r>
              <a:rPr lang="en-IN" sz="1200" dirty="0"/>
              <a:t> </a:t>
            </a:r>
            <a:endParaRPr lang="en-IN" sz="1200" dirty="0"/>
          </a:p>
        </p:txBody>
      </p:sp>
      <p:sp>
        <p:nvSpPr>
          <p:cNvPr id="8" name="TextBox 7"/>
          <p:cNvSpPr txBox="1"/>
          <p:nvPr/>
        </p:nvSpPr>
        <p:spPr>
          <a:xfrm>
            <a:off x="5624488" y="897802"/>
            <a:ext cx="4190571" cy="17851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100" dirty="0"/>
              <a:t>CREATE TABLE Payment (</a:t>
            </a:r>
            <a:endParaRPr lang="en-IN" sz="1100" dirty="0"/>
          </a:p>
          <a:p>
            <a:r>
              <a:rPr lang="en-IN" sz="1100" dirty="0"/>
              <a:t>  </a:t>
            </a:r>
            <a:r>
              <a:rPr lang="en-IN" sz="1100" dirty="0" err="1"/>
              <a:t>payment_id</a:t>
            </a:r>
            <a:r>
              <a:rPr lang="en-IN" sz="1100" dirty="0"/>
              <a:t>     INT           PRIMARY KEY AUTO_INCREMENT,</a:t>
            </a:r>
            <a:endParaRPr lang="en-IN" sz="1100" dirty="0"/>
          </a:p>
          <a:p>
            <a:r>
              <a:rPr lang="en-IN" sz="1100" dirty="0"/>
              <a:t>  </a:t>
            </a:r>
            <a:r>
              <a:rPr lang="en-IN" sz="1100" dirty="0" err="1"/>
              <a:t>order_id</a:t>
            </a:r>
            <a:r>
              <a:rPr lang="en-IN" sz="1100" dirty="0"/>
              <a:t>       INT           UNIQUE NOT NULL,</a:t>
            </a:r>
            <a:endParaRPr lang="en-IN" sz="1100" dirty="0"/>
          </a:p>
          <a:p>
            <a:r>
              <a:rPr lang="en-IN" sz="1100" dirty="0"/>
              <a:t>  </a:t>
            </a:r>
            <a:r>
              <a:rPr lang="en-IN" sz="1100" dirty="0" err="1"/>
              <a:t>payment_date</a:t>
            </a:r>
            <a:r>
              <a:rPr lang="en-IN" sz="1100" dirty="0"/>
              <a:t>   DATE,</a:t>
            </a:r>
            <a:endParaRPr lang="en-IN" sz="1100" dirty="0"/>
          </a:p>
          <a:p>
            <a:r>
              <a:rPr lang="en-IN" sz="1100" dirty="0"/>
              <a:t>  amount         DECIMAL(10,2),</a:t>
            </a:r>
            <a:endParaRPr lang="en-IN" sz="1100" dirty="0"/>
          </a:p>
          <a:p>
            <a:r>
              <a:rPr lang="en-IN" sz="1100" dirty="0"/>
              <a:t>  method         VARCHAR(30),</a:t>
            </a:r>
            <a:endParaRPr lang="en-IN" sz="1100" dirty="0"/>
          </a:p>
          <a:p>
            <a:r>
              <a:rPr lang="en-IN" sz="1100" dirty="0"/>
              <a:t>  status         VARCHAR(20)   DEFAULT "Pending",</a:t>
            </a:r>
            <a:endParaRPr lang="en-IN" sz="1100" dirty="0"/>
          </a:p>
          <a:p>
            <a:r>
              <a:rPr lang="en-IN" sz="1100" dirty="0"/>
              <a:t>  </a:t>
            </a:r>
            <a:r>
              <a:rPr lang="en-IN" sz="1100" dirty="0" err="1"/>
              <a:t>transaction_id</a:t>
            </a:r>
            <a:r>
              <a:rPr lang="en-IN" sz="1100" dirty="0"/>
              <a:t> VARCHAR(100)  UNIQUE,</a:t>
            </a:r>
            <a:endParaRPr lang="en-IN" sz="1100" dirty="0"/>
          </a:p>
          <a:p>
            <a:r>
              <a:rPr lang="en-IN" sz="1100" dirty="0"/>
              <a:t>  FOREIGN KEY (</a:t>
            </a:r>
            <a:r>
              <a:rPr lang="en-IN" sz="1100" dirty="0" err="1"/>
              <a:t>order_id</a:t>
            </a:r>
            <a:r>
              <a:rPr lang="en-IN" sz="1100" dirty="0"/>
              <a:t>) REFERENCES Orders(</a:t>
            </a:r>
            <a:r>
              <a:rPr lang="en-IN" sz="1100" dirty="0" err="1"/>
              <a:t>order_id</a:t>
            </a:r>
            <a:r>
              <a:rPr lang="en-IN" sz="1100" dirty="0"/>
              <a:t>)</a:t>
            </a:r>
            <a:endParaRPr lang="en-IN" sz="1100" dirty="0"/>
          </a:p>
          <a:p>
            <a:r>
              <a:rPr lang="en-IN" sz="1100" dirty="0"/>
              <a:t>);</a:t>
            </a:r>
            <a:endParaRPr lang="en-IN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4412373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  <a:endParaRPr lang="en-IN" sz="195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2" name="object 3"/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3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/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3200400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DDL, DML &amp; DQL OPERATIONS</a:t>
            </a:r>
            <a:endParaRPr lang="en-IN" sz="195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90750" y="816540"/>
            <a:ext cx="67818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🔹 DML – Data Manipulation Language</a:t>
            </a:r>
            <a:endParaRPr lang="en-IN" b="1" dirty="0"/>
          </a:p>
          <a:p>
            <a:r>
              <a:rPr lang="en-IN" dirty="0"/>
              <a:t>Used to insert and modify data in tables.</a:t>
            </a:r>
            <a:endParaRPr lang="en-IN" dirty="0"/>
          </a:p>
          <a:p>
            <a:endParaRPr lang="en-IN" dirty="0"/>
          </a:p>
          <a:p>
            <a:pPr rtl="0"/>
            <a:r>
              <a:rPr lang="en-IN" dirty="0"/>
              <a:t>INSERT INTO Customer</a:t>
            </a:r>
            <a:endParaRPr lang="en-IN" dirty="0"/>
          </a:p>
          <a:p>
            <a:pPr rtl="0"/>
            <a:r>
              <a:rPr lang="en-IN" dirty="0"/>
              <a:t>(</a:t>
            </a:r>
            <a:r>
              <a:rPr lang="en-IN" dirty="0" err="1"/>
              <a:t>first_name</a:t>
            </a:r>
            <a:r>
              <a:rPr lang="en-IN" dirty="0"/>
              <a:t>, </a:t>
            </a:r>
            <a:r>
              <a:rPr lang="en-IN" dirty="0" err="1"/>
              <a:t>last_name</a:t>
            </a:r>
            <a:r>
              <a:rPr lang="en-IN" dirty="0"/>
              <a:t>, email)</a:t>
            </a:r>
            <a:endParaRPr lang="en-IN" dirty="0"/>
          </a:p>
          <a:p>
            <a:pPr rtl="0"/>
            <a:r>
              <a:rPr lang="en-IN" dirty="0"/>
              <a:t>VALUES ('Anita', 'Patel', 'anita@mail.com');</a:t>
            </a:r>
            <a:endParaRPr lang="en-IN" dirty="0"/>
          </a:p>
          <a:p>
            <a:pPr rtl="0"/>
            <a:endParaRPr lang="en-IN" dirty="0"/>
          </a:p>
          <a:p>
            <a:pPr rtl="0"/>
            <a:r>
              <a:rPr lang="en-IN" dirty="0"/>
              <a:t>UPDATE Orders</a:t>
            </a:r>
            <a:endParaRPr lang="en-IN" dirty="0"/>
          </a:p>
          <a:p>
            <a:pPr rtl="0"/>
            <a:r>
              <a:rPr lang="en-IN" dirty="0"/>
              <a:t>SET </a:t>
            </a:r>
            <a:r>
              <a:rPr lang="en-IN" dirty="0" err="1"/>
              <a:t>order_status</a:t>
            </a:r>
            <a:r>
              <a:rPr lang="en-IN" dirty="0"/>
              <a:t> = 'Shipped'</a:t>
            </a:r>
            <a:endParaRPr lang="en-IN" dirty="0"/>
          </a:p>
          <a:p>
            <a:pPr rtl="0"/>
            <a:r>
              <a:rPr lang="en-IN" dirty="0"/>
              <a:t>WHERE </a:t>
            </a:r>
            <a:r>
              <a:rPr lang="en-IN" dirty="0" err="1"/>
              <a:t>order_id</a:t>
            </a:r>
            <a:r>
              <a:rPr lang="en-IN" dirty="0"/>
              <a:t> = 2;</a:t>
            </a:r>
            <a:endParaRPr lang="en-IN" dirty="0"/>
          </a:p>
          <a:p>
            <a:pPr rtl="0"/>
            <a:endParaRPr lang="en-IN" dirty="0"/>
          </a:p>
          <a:p>
            <a:pPr rtl="0"/>
            <a:r>
              <a:rPr lang="en-IN" dirty="0"/>
              <a:t>DELETE FROM Customer</a:t>
            </a:r>
            <a:endParaRPr lang="en-IN" dirty="0"/>
          </a:p>
          <a:p>
            <a:pPr rtl="0"/>
            <a:r>
              <a:rPr lang="en-IN" dirty="0"/>
              <a:t>WHERE </a:t>
            </a:r>
            <a:r>
              <a:rPr lang="en-IN" dirty="0" err="1"/>
              <a:t>customer_id</a:t>
            </a:r>
            <a:r>
              <a:rPr lang="en-IN" dirty="0"/>
              <a:t> = 3;</a:t>
            </a:r>
            <a:endParaRPr lang="en-IN" dirty="0"/>
          </a:p>
          <a:p>
            <a:r>
              <a:rPr lang="en-IN" b="1" dirty="0"/>
              <a:t>DML Operations:</a:t>
            </a:r>
            <a:r>
              <a:rPr lang="en-IN" dirty="0"/>
              <a:t> INSERT, UPDATE, DELETE</a:t>
            </a:r>
            <a:endParaRPr lang="en-IN" dirty="0"/>
          </a:p>
        </p:txBody>
      </p:sp>
      <p:sp>
        <p:nvSpPr>
          <p:cNvPr id="8" name="TextBox 7"/>
          <p:cNvSpPr txBox="1"/>
          <p:nvPr/>
        </p:nvSpPr>
        <p:spPr>
          <a:xfrm>
            <a:off x="295079" y="4982766"/>
            <a:ext cx="4314001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🔹 DQL – Data Query Language</a:t>
            </a:r>
            <a:endParaRPr lang="en-IN" b="1" dirty="0"/>
          </a:p>
          <a:p>
            <a:r>
              <a:rPr lang="en-IN" dirty="0"/>
              <a:t>Used to retrieve data from the database.</a:t>
            </a:r>
            <a:endParaRPr lang="en-IN" dirty="0"/>
          </a:p>
          <a:p>
            <a:pPr rtl="0"/>
            <a:r>
              <a:rPr lang="en-IN" dirty="0"/>
              <a:t>SELECT * FROM Customer;</a:t>
            </a:r>
            <a:endParaRPr lang="en-IN" dirty="0"/>
          </a:p>
          <a:p>
            <a:pPr rtl="0"/>
            <a:endParaRPr lang="en-IN" dirty="0"/>
          </a:p>
          <a:p>
            <a:pPr rtl="0"/>
            <a:r>
              <a:rPr lang="en-IN" dirty="0"/>
              <a:t>SELECT </a:t>
            </a:r>
            <a:r>
              <a:rPr lang="en-IN" dirty="0" err="1"/>
              <a:t>product_name</a:t>
            </a:r>
            <a:r>
              <a:rPr lang="en-IN" dirty="0"/>
              <a:t>, price</a:t>
            </a:r>
            <a:endParaRPr lang="en-IN" dirty="0"/>
          </a:p>
          <a:p>
            <a:pPr rtl="0"/>
            <a:r>
              <a:rPr lang="en-IN" dirty="0"/>
              <a:t>FROM Product</a:t>
            </a:r>
            <a:endParaRPr lang="en-IN" dirty="0"/>
          </a:p>
          <a:p>
            <a:pPr rtl="0"/>
            <a:r>
              <a:rPr lang="en-IN" dirty="0"/>
              <a:t>WHERE price &gt; 1000;</a:t>
            </a:r>
            <a:endParaRPr lang="en-IN" dirty="0"/>
          </a:p>
          <a:p>
            <a:r>
              <a:rPr lang="en-IN" b="1" dirty="0"/>
              <a:t>DQL Operation:</a:t>
            </a:r>
            <a:r>
              <a:rPr lang="en-IN" dirty="0"/>
              <a:t> SELECT</a:t>
            </a:r>
            <a:endParaRPr lang="en-IN" dirty="0"/>
          </a:p>
          <a:p>
            <a:endParaRPr lang="en-IN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4412373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  <a:endParaRPr lang="en-IN" sz="195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2" name="object 3"/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3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/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3200400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CRUD &amp; SQL QUERIES</a:t>
            </a:r>
            <a:endParaRPr lang="en-IN" sz="195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45172" y="803973"/>
            <a:ext cx="9456027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🔹 CRUD Operations</a:t>
            </a:r>
            <a:endParaRPr lang="en-IN" b="1" dirty="0"/>
          </a:p>
          <a:p>
            <a:r>
              <a:rPr lang="en-IN" b="1" dirty="0"/>
              <a:t>CREATE</a:t>
            </a:r>
            <a:endParaRPr lang="en-IN" dirty="0"/>
          </a:p>
          <a:p>
            <a:pPr rtl="0"/>
            <a:r>
              <a:rPr lang="en-IN" dirty="0"/>
              <a:t>INSERT INTO Customer (</a:t>
            </a:r>
            <a:r>
              <a:rPr lang="en-IN" dirty="0" err="1"/>
              <a:t>first_name</a:t>
            </a:r>
            <a:r>
              <a:rPr lang="en-IN" dirty="0"/>
              <a:t>, </a:t>
            </a:r>
            <a:r>
              <a:rPr lang="en-IN" dirty="0" err="1"/>
              <a:t>last_name</a:t>
            </a:r>
            <a:r>
              <a:rPr lang="en-IN" dirty="0"/>
              <a:t>, email)</a:t>
            </a:r>
            <a:endParaRPr lang="en-IN" dirty="0"/>
          </a:p>
          <a:p>
            <a:pPr rtl="0"/>
            <a:r>
              <a:rPr lang="en-IN" dirty="0"/>
              <a:t>VALUES ('Rahul', 'Kumar', 'rahul@mail.com');</a:t>
            </a:r>
            <a:endParaRPr lang="en-IN" dirty="0"/>
          </a:p>
          <a:p>
            <a:r>
              <a:rPr lang="en-IN" b="1" dirty="0"/>
              <a:t>READ</a:t>
            </a:r>
            <a:endParaRPr lang="en-IN" dirty="0"/>
          </a:p>
          <a:p>
            <a:pPr rtl="0"/>
            <a:r>
              <a:rPr lang="en-IN" dirty="0"/>
              <a:t>SELECT * FROM Customer;</a:t>
            </a:r>
            <a:endParaRPr lang="en-IN" dirty="0"/>
          </a:p>
          <a:p>
            <a:r>
              <a:rPr lang="en-IN" b="1" dirty="0"/>
              <a:t>UPDATE</a:t>
            </a:r>
            <a:endParaRPr lang="en-IN" dirty="0"/>
          </a:p>
          <a:p>
            <a:pPr rtl="0"/>
            <a:r>
              <a:rPr lang="en-IN" dirty="0"/>
              <a:t>UPDATE Orders</a:t>
            </a:r>
            <a:endParaRPr lang="en-IN" dirty="0"/>
          </a:p>
          <a:p>
            <a:pPr rtl="0"/>
            <a:r>
              <a:rPr lang="en-IN" dirty="0"/>
              <a:t>SET </a:t>
            </a:r>
            <a:r>
              <a:rPr lang="en-IN" dirty="0" err="1"/>
              <a:t>order_status</a:t>
            </a:r>
            <a:r>
              <a:rPr lang="en-IN" dirty="0"/>
              <a:t> = 'Shipped'</a:t>
            </a:r>
            <a:endParaRPr lang="en-IN" dirty="0"/>
          </a:p>
          <a:p>
            <a:pPr rtl="0"/>
            <a:r>
              <a:rPr lang="en-IN" dirty="0"/>
              <a:t>WHERE </a:t>
            </a:r>
            <a:r>
              <a:rPr lang="en-IN" dirty="0" err="1"/>
              <a:t>order_id</a:t>
            </a:r>
            <a:r>
              <a:rPr lang="en-IN" dirty="0"/>
              <a:t> = 2;</a:t>
            </a:r>
            <a:endParaRPr lang="en-IN" dirty="0"/>
          </a:p>
          <a:p>
            <a:r>
              <a:rPr lang="en-IN" b="1" dirty="0"/>
              <a:t>DELETE</a:t>
            </a:r>
            <a:endParaRPr lang="en-IN" dirty="0"/>
          </a:p>
          <a:p>
            <a:pPr rtl="0"/>
            <a:r>
              <a:rPr lang="en-IN" dirty="0"/>
              <a:t>DELETE FROM Customer</a:t>
            </a:r>
            <a:endParaRPr lang="en-IN" dirty="0"/>
          </a:p>
          <a:p>
            <a:pPr rtl="0"/>
            <a:r>
              <a:rPr lang="en-IN" dirty="0"/>
              <a:t>WHERE </a:t>
            </a:r>
            <a:r>
              <a:rPr lang="en-IN" dirty="0" err="1"/>
              <a:t>customer_id</a:t>
            </a:r>
            <a:r>
              <a:rPr lang="en-IN" dirty="0"/>
              <a:t> = 3;</a:t>
            </a:r>
            <a:endParaRPr lang="en-IN" dirty="0"/>
          </a:p>
          <a:p>
            <a:pPr rtl="0"/>
            <a:endParaRPr lang="en-IN" dirty="0"/>
          </a:p>
          <a:p>
            <a:r>
              <a:rPr lang="en-IN" b="1" dirty="0"/>
              <a:t>🔹 Joins</a:t>
            </a:r>
            <a:endParaRPr lang="en-IN" b="1" dirty="0"/>
          </a:p>
          <a:p>
            <a:pPr rtl="0"/>
            <a:r>
              <a:rPr lang="en-IN" dirty="0"/>
              <a:t>SELECT </a:t>
            </a:r>
            <a:r>
              <a:rPr lang="en-IN" dirty="0" err="1"/>
              <a:t>c.first_name</a:t>
            </a:r>
            <a:r>
              <a:rPr lang="en-IN" dirty="0"/>
              <a:t>, </a:t>
            </a:r>
            <a:r>
              <a:rPr lang="en-IN" dirty="0" err="1"/>
              <a:t>o.order_id</a:t>
            </a:r>
            <a:r>
              <a:rPr lang="en-IN" dirty="0"/>
              <a:t>, </a:t>
            </a:r>
            <a:r>
              <a:rPr lang="en-IN" dirty="0" err="1"/>
              <a:t>o.order_status</a:t>
            </a:r>
            <a:endParaRPr lang="en-IN" dirty="0"/>
          </a:p>
          <a:p>
            <a:pPr rtl="0"/>
            <a:r>
              <a:rPr lang="en-IN" dirty="0"/>
              <a:t>FROM Customer c</a:t>
            </a:r>
            <a:endParaRPr lang="en-IN" dirty="0"/>
          </a:p>
          <a:p>
            <a:pPr rtl="0"/>
            <a:r>
              <a:rPr lang="en-IN" dirty="0"/>
              <a:t>JOIN Orders o</a:t>
            </a:r>
            <a:endParaRPr lang="en-IN" dirty="0"/>
          </a:p>
          <a:p>
            <a:pPr rtl="0"/>
            <a:r>
              <a:rPr lang="en-IN" dirty="0"/>
              <a:t>ON </a:t>
            </a:r>
            <a:r>
              <a:rPr lang="en-IN" dirty="0" err="1"/>
              <a:t>c.customer_id</a:t>
            </a:r>
            <a:r>
              <a:rPr lang="en-IN" dirty="0"/>
              <a:t> = </a:t>
            </a:r>
            <a:r>
              <a:rPr lang="en-IN" dirty="0" err="1"/>
              <a:t>o.customer_id</a:t>
            </a:r>
            <a:r>
              <a:rPr lang="en-IN" dirty="0"/>
              <a:t>;</a:t>
            </a:r>
            <a:endParaRPr lang="en-IN" dirty="0"/>
          </a:p>
          <a:p>
            <a:r>
              <a:rPr lang="en-IN" b="1" dirty="0"/>
              <a:t>🔹 Aggregate Function</a:t>
            </a:r>
            <a:endParaRPr lang="en-IN" b="1" dirty="0"/>
          </a:p>
          <a:p>
            <a:pPr rtl="0"/>
            <a:r>
              <a:rPr lang="en-IN" dirty="0"/>
              <a:t>SELECT </a:t>
            </a:r>
            <a:r>
              <a:rPr lang="en-IN" dirty="0" err="1"/>
              <a:t>customer_id</a:t>
            </a:r>
            <a:r>
              <a:rPr lang="en-IN" dirty="0"/>
              <a:t>, COUNT(*) AS </a:t>
            </a:r>
            <a:r>
              <a:rPr lang="en-IN" dirty="0" err="1"/>
              <a:t>total_orders</a:t>
            </a:r>
            <a:endParaRPr lang="en-IN" dirty="0"/>
          </a:p>
          <a:p>
            <a:pPr rtl="0"/>
            <a:r>
              <a:rPr lang="en-IN" dirty="0"/>
              <a:t>FROM Orders</a:t>
            </a:r>
            <a:endParaRPr lang="en-IN" dirty="0"/>
          </a:p>
          <a:p>
            <a:pPr rtl="0"/>
            <a:r>
              <a:rPr lang="en-IN" dirty="0"/>
              <a:t>GROUP BY </a:t>
            </a:r>
            <a:r>
              <a:rPr lang="en-IN" dirty="0" err="1"/>
              <a:t>customer_id</a:t>
            </a:r>
            <a:r>
              <a:rPr lang="en-IN" dirty="0"/>
              <a:t>;</a:t>
            </a:r>
            <a:endParaRPr lang="en-IN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4412373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  <a:endParaRPr lang="en-IN" sz="195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2" name="object 3"/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3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/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3200400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CRUD &amp; SQL QUERIES</a:t>
            </a:r>
            <a:endParaRPr lang="en-IN" sz="195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15487" y="684163"/>
            <a:ext cx="678180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/>
              <a:t>🔹 View</a:t>
            </a:r>
            <a:endParaRPr lang="en-IN" sz="2000" b="1" dirty="0"/>
          </a:p>
          <a:p>
            <a:pPr rtl="0"/>
            <a:r>
              <a:rPr lang="en-IN" sz="2000" dirty="0"/>
              <a:t>CREATE VIEW </a:t>
            </a:r>
            <a:r>
              <a:rPr lang="en-IN" sz="2000" dirty="0" err="1"/>
              <a:t>Order_Details</a:t>
            </a:r>
            <a:r>
              <a:rPr lang="en-IN" sz="2000" dirty="0"/>
              <a:t> AS</a:t>
            </a:r>
            <a:endParaRPr lang="en-IN" sz="2000" dirty="0"/>
          </a:p>
          <a:p>
            <a:pPr rtl="0"/>
            <a:r>
              <a:rPr lang="en-IN" sz="2000" dirty="0"/>
              <a:t>SELECT </a:t>
            </a:r>
            <a:r>
              <a:rPr lang="en-IN" sz="2000" dirty="0" err="1"/>
              <a:t>o.order_id</a:t>
            </a:r>
            <a:r>
              <a:rPr lang="en-IN" sz="2000" dirty="0"/>
              <a:t>, </a:t>
            </a:r>
            <a:r>
              <a:rPr lang="en-IN" sz="2000" dirty="0" err="1"/>
              <a:t>c.first_name</a:t>
            </a:r>
            <a:r>
              <a:rPr lang="en-IN" sz="2000" dirty="0"/>
              <a:t>, </a:t>
            </a:r>
            <a:r>
              <a:rPr lang="en-IN" sz="2000" dirty="0" err="1"/>
              <a:t>o.order_date</a:t>
            </a:r>
            <a:r>
              <a:rPr lang="en-IN" sz="2000" dirty="0"/>
              <a:t>, </a:t>
            </a:r>
            <a:r>
              <a:rPr lang="en-IN" sz="2000" dirty="0" err="1"/>
              <a:t>o.order_status</a:t>
            </a:r>
            <a:endParaRPr lang="en-IN" sz="2000" dirty="0"/>
          </a:p>
          <a:p>
            <a:pPr rtl="0"/>
            <a:r>
              <a:rPr lang="en-IN" sz="2000" dirty="0"/>
              <a:t>FROM Orders o</a:t>
            </a:r>
            <a:endParaRPr lang="en-IN" sz="2000" dirty="0"/>
          </a:p>
          <a:p>
            <a:pPr rtl="0"/>
            <a:r>
              <a:rPr lang="en-IN" sz="2000" dirty="0"/>
              <a:t>JOIN Customer c</a:t>
            </a:r>
            <a:endParaRPr lang="en-IN" sz="2000" dirty="0"/>
          </a:p>
          <a:p>
            <a:pPr rtl="0"/>
            <a:r>
              <a:rPr lang="en-IN" sz="2000" dirty="0"/>
              <a:t>ON </a:t>
            </a:r>
            <a:r>
              <a:rPr lang="en-IN" sz="2000" dirty="0" err="1"/>
              <a:t>o.customer_id</a:t>
            </a:r>
            <a:r>
              <a:rPr lang="en-IN" sz="2000" dirty="0"/>
              <a:t> = </a:t>
            </a:r>
            <a:r>
              <a:rPr lang="en-IN" sz="2000" dirty="0" err="1"/>
              <a:t>c.customer_id</a:t>
            </a:r>
            <a:r>
              <a:rPr lang="en-IN" sz="2000" dirty="0"/>
              <a:t>;</a:t>
            </a:r>
            <a:endParaRPr lang="en-IN" sz="2000" dirty="0"/>
          </a:p>
          <a:p>
            <a:r>
              <a:rPr lang="en-IN" sz="2000" b="1" dirty="0"/>
              <a:t>🔹 Other SQL Query</a:t>
            </a:r>
            <a:endParaRPr lang="en-IN" sz="2000" b="1" dirty="0"/>
          </a:p>
          <a:p>
            <a:pPr rtl="0"/>
            <a:r>
              <a:rPr lang="en-IN" sz="2000" dirty="0"/>
              <a:t>SELECT </a:t>
            </a:r>
            <a:r>
              <a:rPr lang="en-IN" sz="2000" dirty="0" err="1"/>
              <a:t>product_name</a:t>
            </a:r>
            <a:r>
              <a:rPr lang="en-IN" sz="2000" dirty="0"/>
              <a:t>, price</a:t>
            </a:r>
            <a:endParaRPr lang="en-IN" sz="2000" dirty="0"/>
          </a:p>
          <a:p>
            <a:pPr rtl="0"/>
            <a:r>
              <a:rPr lang="en-IN" sz="2000" dirty="0"/>
              <a:t>FROM Product</a:t>
            </a:r>
            <a:endParaRPr lang="en-IN" sz="2000" dirty="0"/>
          </a:p>
          <a:p>
            <a:pPr rtl="0"/>
            <a:r>
              <a:rPr lang="en-IN" sz="2000" dirty="0"/>
              <a:t>WHERE price &gt; 1000</a:t>
            </a:r>
            <a:endParaRPr lang="en-IN" sz="2000" dirty="0"/>
          </a:p>
          <a:p>
            <a:pPr rtl="0"/>
            <a:r>
              <a:rPr lang="en-IN" sz="2000" dirty="0"/>
              <a:t>ORDER BY price DESC;</a:t>
            </a:r>
            <a:endParaRPr lang="en-IN" sz="2000" dirty="0"/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53172" y="4595570"/>
            <a:ext cx="963597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CRUD operations, Joins, Aggregate Functions, Views, and filtering/sorting queries are</a:t>
            </a:r>
            <a:endParaRPr lang="en-IN" b="1" dirty="0"/>
          </a:p>
          <a:p>
            <a:r>
              <a:rPr lang="en-IN" b="1" dirty="0"/>
              <a:t>implemented to demonstrate database functionality.</a:t>
            </a:r>
            <a:endParaRPr lang="en-IN" dirty="0"/>
          </a:p>
          <a:p>
            <a:endParaRPr lang="en-IN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4412373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  <a:endParaRPr lang="en-IN" sz="195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2" name="object 3"/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3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/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3200400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INTEGRITY &amp; VALIDATION</a:t>
            </a:r>
            <a:endParaRPr lang="en-IN" sz="195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24153" y="746098"/>
            <a:ext cx="6781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🔹 </a:t>
            </a:r>
            <a:r>
              <a:rPr lang="en-IN" sz="1800" b="1" dirty="0"/>
              <a:t>Data Integrity &amp; Validation Rules</a:t>
            </a:r>
            <a:endParaRPr lang="en-IN" sz="1800" b="1" dirty="0"/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00353" y="1188394"/>
          <a:ext cx="6705600" cy="3246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2800"/>
                <a:gridCol w="3352800"/>
              </a:tblGrid>
              <a:tr h="370840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IN" sz="1400" b="1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Rule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IN" sz="1400" b="1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Implementation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</a:tr>
              <a:tr h="370840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IN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No duplicate IDs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IN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AUTO_INCREMENT PKs ensure uniqueness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</a:tr>
              <a:tr h="370840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IN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No duplicate emails/codes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IN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UNIQUE constraints on email, course_code, ISBN etc.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</a:tr>
              <a:tr h="370840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IN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Valid range checks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IN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CHECK constraints on marks, credits, quantity, rating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</a:tr>
              <a:tr h="370840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IN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Referential integrity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IN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FOREIGN KEY constraints with ON DELETE / UPDATE rules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</a:tr>
              <a:tr h="370840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IN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Non-null required fields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IN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NOT NULL on all mandatory columns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</a:tr>
              <a:tr h="370840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IN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No orphan records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IN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FK relationships prevent insertion without parent record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</a:tr>
              <a:tr h="370840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IN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No data redundancy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IN" sz="14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Normalization to 3NF; derived fields computed, not stored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41171" y="4648200"/>
            <a:ext cx="4923143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🔹 Validation Through Constraints</a:t>
            </a:r>
            <a:endParaRPr lang="en-IN" b="1" dirty="0"/>
          </a:p>
          <a:p>
            <a:endParaRPr lang="en-IN" b="1" dirty="0"/>
          </a:p>
          <a:p>
            <a:endParaRPr lang="en-IN" b="1" dirty="0"/>
          </a:p>
          <a:p>
            <a:pPr rtl="0"/>
            <a:r>
              <a:rPr lang="en-IN" dirty="0"/>
              <a:t>price DECIMAL(10,2) CHECK (price &gt;= 0)</a:t>
            </a:r>
            <a:endParaRPr lang="en-IN" dirty="0"/>
          </a:p>
          <a:p>
            <a:pPr rtl="0"/>
            <a:endParaRPr lang="en-IN" dirty="0"/>
          </a:p>
          <a:p>
            <a:pPr rtl="0"/>
            <a:r>
              <a:rPr lang="en-IN" dirty="0"/>
              <a:t>quantity INT NOT NULL CHECK (quantity &gt; 0)</a:t>
            </a:r>
            <a:endParaRPr lang="en-IN" dirty="0"/>
          </a:p>
          <a:p>
            <a:pPr rtl="0"/>
            <a:endParaRPr lang="en-IN" dirty="0"/>
          </a:p>
          <a:p>
            <a:pPr rtl="0"/>
            <a:r>
              <a:rPr lang="en-IN" dirty="0"/>
              <a:t>email VARCHAR(100) UNIQUE NOT NULL</a:t>
            </a:r>
            <a:endParaRPr lang="en-IN" dirty="0"/>
          </a:p>
          <a:p>
            <a:endParaRPr lang="en-IN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4412373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  <a:endParaRPr lang="en-IN" sz="195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2" name="object 3"/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3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/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3200400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DOCUMENTATION</a:t>
            </a:r>
            <a:endParaRPr lang="en-IN" sz="195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749471" y="2362200"/>
            <a:ext cx="6781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25528" y="676279"/>
            <a:ext cx="260840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Sample Data Insertion</a:t>
            </a:r>
            <a:endParaRPr lang="en-IN" b="1" dirty="0"/>
          </a:p>
          <a:p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109" y="1063552"/>
            <a:ext cx="4740064" cy="344766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9973" y="1137902"/>
            <a:ext cx="4930318" cy="3447664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48" y="4586977"/>
            <a:ext cx="4894186" cy="3185423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113168" y="5341281"/>
            <a:ext cx="450636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Sample data inserted successfully into </a:t>
            </a:r>
            <a:endParaRPr lang="en-IN" b="1" dirty="0"/>
          </a:p>
          <a:p>
            <a:r>
              <a:rPr lang="en-IN" b="1" dirty="0"/>
              <a:t>all 7 tables.</a:t>
            </a:r>
            <a:endParaRPr lang="en-IN" dirty="0"/>
          </a:p>
          <a:p>
            <a:endParaRPr lang="en-IN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4412373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  <a:endParaRPr lang="en-IN" sz="195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2" name="object 3"/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3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/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3200400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DOCUMENTATION</a:t>
            </a:r>
            <a:endParaRPr lang="en-IN" sz="195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25197" y="785759"/>
            <a:ext cx="6781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JOIN Query Execution</a:t>
            </a:r>
            <a:r>
              <a:rPr lang="en-IN" sz="2400" dirty="0"/>
              <a:t> </a:t>
            </a:r>
            <a:endParaRPr lang="en-IN" sz="2400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476901"/>
            <a:ext cx="9289172" cy="267315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90750" y="4375360"/>
            <a:ext cx="432682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Aggregate Function Query Execution</a:t>
            </a:r>
            <a:r>
              <a:rPr lang="en-IN" dirty="0"/>
              <a:t> </a:t>
            </a:r>
            <a:endParaRPr lang="en-IN" dirty="0"/>
          </a:p>
          <a:p>
            <a:endParaRPr lang="en-IN" dirty="0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273" y="4998310"/>
            <a:ext cx="84582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4412373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  <a:endParaRPr lang="en-IN" sz="195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2" name="object 3"/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3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/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3200400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DOCUMENTATION</a:t>
            </a:r>
            <a:endParaRPr lang="en-IN" sz="195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18934" y="1019077"/>
            <a:ext cx="6781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View Query Execution</a:t>
            </a:r>
            <a:r>
              <a:rPr lang="en-IN" sz="2400" dirty="0"/>
              <a:t> </a:t>
            </a:r>
            <a:endParaRPr lang="en-IN" sz="2400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750" y="1480344"/>
            <a:ext cx="8387957" cy="278685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90750" y="4364354"/>
            <a:ext cx="40959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Filtering &amp; Sorting Query Execution</a:t>
            </a:r>
            <a:endParaRPr lang="en-IN" b="1" dirty="0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913" y="4997271"/>
            <a:ext cx="4759936" cy="2427174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0" y="4997271"/>
            <a:ext cx="4554025" cy="2427174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4412373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  <a:endParaRPr lang="en-IN" sz="195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2" name="object 3"/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3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/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3200400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DEMONSTRATE &amp; PRESENT</a:t>
            </a:r>
            <a:endParaRPr lang="en-IN" sz="195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71961" y="831294"/>
            <a:ext cx="6781800" cy="70173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b="1" dirty="0"/>
              <a:t>Database &amp; Tables</a:t>
            </a:r>
            <a:r>
              <a:rPr lang="en-IN" dirty="0"/>
              <a:t> </a:t>
            </a:r>
            <a:endParaRPr lang="en-IN" dirty="0"/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IN" dirty="0" err="1"/>
              <a:t>ECommerce_Order_Management</a:t>
            </a:r>
            <a:r>
              <a:rPr lang="en-IN" dirty="0"/>
              <a:t> database </a:t>
            </a:r>
            <a:endParaRPr lang="en-IN" dirty="0"/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IN" dirty="0"/>
              <a:t>7 tables created </a:t>
            </a:r>
            <a:endParaRPr lang="en-IN" dirty="0"/>
          </a:p>
          <a:p>
            <a:pPr lvl="0"/>
            <a:r>
              <a:rPr lang="en-IN" b="1" dirty="0"/>
              <a:t>Sample Data</a:t>
            </a:r>
            <a:r>
              <a:rPr lang="en-IN" dirty="0"/>
              <a:t> </a:t>
            </a:r>
            <a:endParaRPr lang="en-IN" dirty="0"/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IN" dirty="0"/>
              <a:t>Customer </a:t>
            </a:r>
            <a:endParaRPr lang="en-IN" dirty="0"/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IN" dirty="0"/>
              <a:t>Address </a:t>
            </a:r>
            <a:endParaRPr lang="en-IN" dirty="0"/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IN" dirty="0"/>
              <a:t>Category </a:t>
            </a:r>
            <a:endParaRPr lang="en-IN" dirty="0"/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IN" dirty="0"/>
              <a:t>Product </a:t>
            </a:r>
            <a:endParaRPr lang="en-IN" dirty="0"/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IN" dirty="0"/>
              <a:t>Orders </a:t>
            </a:r>
            <a:endParaRPr lang="en-IN" dirty="0"/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IN" dirty="0" err="1"/>
              <a:t>Order_Item</a:t>
            </a:r>
            <a:r>
              <a:rPr lang="en-IN" dirty="0"/>
              <a:t> </a:t>
            </a:r>
            <a:endParaRPr lang="en-IN" dirty="0"/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IN" dirty="0"/>
              <a:t>Payment </a:t>
            </a:r>
            <a:endParaRPr lang="en-IN" dirty="0"/>
          </a:p>
          <a:p>
            <a:pPr lvl="0"/>
            <a:r>
              <a:rPr lang="en-IN" b="1" dirty="0"/>
              <a:t>SQL Operations</a:t>
            </a:r>
            <a:r>
              <a:rPr lang="en-IN" dirty="0"/>
              <a:t> </a:t>
            </a:r>
            <a:endParaRPr lang="en-IN" dirty="0"/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IN" dirty="0"/>
              <a:t>DDL </a:t>
            </a:r>
            <a:endParaRPr lang="en-IN" dirty="0"/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IN" dirty="0"/>
              <a:t>DML </a:t>
            </a:r>
            <a:endParaRPr lang="en-IN" dirty="0"/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IN" dirty="0"/>
              <a:t>DQL </a:t>
            </a:r>
            <a:endParaRPr lang="en-IN" dirty="0"/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IN" dirty="0"/>
              <a:t>CRUD </a:t>
            </a:r>
            <a:endParaRPr lang="en-IN" dirty="0"/>
          </a:p>
          <a:p>
            <a:pPr lvl="0"/>
            <a:r>
              <a:rPr lang="en-IN" b="1" dirty="0"/>
              <a:t>SQL Query Results</a:t>
            </a:r>
            <a:r>
              <a:rPr lang="en-IN" dirty="0"/>
              <a:t> </a:t>
            </a:r>
            <a:endParaRPr lang="en-IN" dirty="0"/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IN" dirty="0"/>
              <a:t>JOIN </a:t>
            </a:r>
            <a:endParaRPr lang="en-IN" dirty="0"/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IN" dirty="0"/>
              <a:t>Aggregate Functions </a:t>
            </a:r>
            <a:endParaRPr lang="en-IN" dirty="0"/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IN" dirty="0"/>
              <a:t>View </a:t>
            </a:r>
            <a:endParaRPr lang="en-IN" dirty="0"/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IN" dirty="0"/>
              <a:t>SELECT/filtering queries </a:t>
            </a:r>
            <a:endParaRPr lang="en-IN" dirty="0"/>
          </a:p>
          <a:p>
            <a:pPr lvl="0"/>
            <a:r>
              <a:rPr lang="en-IN" b="1" dirty="0"/>
              <a:t>ER Diagram &amp; Schema</a:t>
            </a:r>
            <a:r>
              <a:rPr lang="en-IN" dirty="0"/>
              <a:t> </a:t>
            </a:r>
            <a:endParaRPr lang="en-IN" dirty="0"/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IN" dirty="0"/>
              <a:t>ER Diagram </a:t>
            </a:r>
            <a:endParaRPr lang="en-IN" dirty="0"/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IN" dirty="0"/>
              <a:t>Relational Schema </a:t>
            </a:r>
            <a:endParaRPr lang="en-IN" dirty="0"/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IN" dirty="0"/>
              <a:t>PK &amp; FK relationships</a:t>
            </a:r>
            <a:endParaRPr lang="en-IN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290750" y="871366"/>
            <a:ext cx="8574881" cy="6370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1"/>
                </a:solidFill>
              </a:rPr>
              <a:t>Database Design &amp; Implementation</a:t>
            </a:r>
            <a:endParaRPr lang="en-IN" sz="2400" b="1" dirty="0">
              <a:solidFill>
                <a:schemeClr val="accent1"/>
              </a:solidFill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Designed and implemented an </a:t>
            </a:r>
            <a:r>
              <a:rPr lang="en-IN" sz="2400" b="1" dirty="0"/>
              <a:t>E-Commerce Order Management System</a:t>
            </a:r>
            <a:r>
              <a:rPr lang="en-IN" sz="2400" dirty="0"/>
              <a:t>. </a:t>
            </a:r>
            <a:endParaRPr lang="en-IN" sz="24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Created tables for customers, addresses, categories, products, orders, order items, and payments. </a:t>
            </a:r>
            <a:endParaRPr lang="en-IN" sz="24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Implemented </a:t>
            </a:r>
            <a:r>
              <a:rPr lang="en-IN" sz="2400" b="1" dirty="0"/>
              <a:t>PKs, FKs, and data integrity constraints</a:t>
            </a:r>
            <a:r>
              <a:rPr lang="en-IN" sz="2400" dirty="0"/>
              <a:t>. </a:t>
            </a:r>
            <a:endParaRPr lang="en-IN" sz="2400" dirty="0"/>
          </a:p>
          <a:p>
            <a:r>
              <a:rPr lang="en-IN" sz="2400" b="1" dirty="0">
                <a:solidFill>
                  <a:schemeClr val="accent1"/>
                </a:solidFill>
              </a:rPr>
              <a:t>Key Learnings</a:t>
            </a:r>
            <a:endParaRPr lang="en-IN" sz="2400" b="1" dirty="0">
              <a:solidFill>
                <a:schemeClr val="accent1"/>
              </a:solidFill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Learned </a:t>
            </a:r>
            <a:r>
              <a:rPr lang="en-IN" sz="2400" b="1" dirty="0"/>
              <a:t>ER </a:t>
            </a:r>
            <a:r>
              <a:rPr lang="en-IN" sz="2400" b="1" dirty="0" err="1"/>
              <a:t>modeling</a:t>
            </a:r>
            <a:r>
              <a:rPr lang="en-IN" sz="2400" b="1" dirty="0"/>
              <a:t> and relational database design</a:t>
            </a:r>
            <a:r>
              <a:rPr lang="en-IN" sz="2400" dirty="0"/>
              <a:t>. </a:t>
            </a:r>
            <a:endParaRPr lang="en-IN" sz="24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Gained practical knowledge of </a:t>
            </a:r>
            <a:r>
              <a:rPr lang="en-IN" sz="2400" b="1" dirty="0"/>
              <a:t>DDL, DML, DQL, CRUD, Joins, Aggregate Functions, and Views</a:t>
            </a:r>
            <a:r>
              <a:rPr lang="en-IN" sz="2400" dirty="0"/>
              <a:t>. </a:t>
            </a:r>
            <a:endParaRPr lang="en-IN" sz="24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Understood the importance of </a:t>
            </a:r>
            <a:r>
              <a:rPr lang="en-IN" sz="2400" b="1" dirty="0"/>
              <a:t>normalization and data validation</a:t>
            </a:r>
            <a:r>
              <a:rPr lang="en-IN" sz="2400" dirty="0"/>
              <a:t>. </a:t>
            </a:r>
            <a:endParaRPr lang="en-IN" sz="2400" dirty="0"/>
          </a:p>
          <a:p>
            <a:r>
              <a:rPr lang="en-IN" sz="2400" b="1" dirty="0">
                <a:solidFill>
                  <a:schemeClr val="accent1"/>
                </a:solidFill>
              </a:rPr>
              <a:t>Future Enhancements</a:t>
            </a:r>
            <a:endParaRPr lang="en-IN" sz="2400" b="1" dirty="0">
              <a:solidFill>
                <a:schemeClr val="accent1"/>
              </a:solidFill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Add </a:t>
            </a:r>
            <a:r>
              <a:rPr lang="en-IN" sz="2400" b="1" dirty="0"/>
              <a:t>order tracking and delivery management</a:t>
            </a:r>
            <a:r>
              <a:rPr lang="en-IN" sz="2400" dirty="0"/>
              <a:t>. </a:t>
            </a:r>
            <a:endParaRPr lang="en-IN" sz="24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Add </a:t>
            </a:r>
            <a:r>
              <a:rPr lang="en-IN" sz="2400" b="1" dirty="0"/>
              <a:t>advanced reporting and analytics</a:t>
            </a:r>
            <a:r>
              <a:rPr lang="en-IN" sz="2400" dirty="0"/>
              <a:t>. </a:t>
            </a:r>
            <a:endParaRPr lang="en-IN" sz="24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Improve the system with additional </a:t>
            </a:r>
            <a:r>
              <a:rPr lang="en-IN" sz="2400" b="1" dirty="0"/>
              <a:t>e-commerce features and automation</a:t>
            </a:r>
            <a:r>
              <a:rPr lang="en-IN" sz="2400" dirty="0"/>
              <a:t>.</a:t>
            </a:r>
            <a:endParaRPr lang="en-IN" sz="2400" dirty="0"/>
          </a:p>
        </p:txBody>
      </p:sp>
      <p:grpSp>
        <p:nvGrpSpPr>
          <p:cNvPr id="7" name="object 3"/>
          <p:cNvGrpSpPr/>
          <p:nvPr/>
        </p:nvGrpSpPr>
        <p:grpSpPr>
          <a:xfrm>
            <a:off x="2477248" y="152400"/>
            <a:ext cx="5103904" cy="1198311"/>
            <a:chOff x="2648188" y="47148"/>
            <a:chExt cx="5103904" cy="1198311"/>
          </a:xfrm>
        </p:grpSpPr>
        <p:pic>
          <p:nvPicPr>
            <p:cNvPr id="8" name="object 4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9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10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11" name="object 7"/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9"/>
          <p:cNvSpPr txBox="1">
            <a:spLocks noGrp="1"/>
          </p:cNvSpPr>
          <p:nvPr>
            <p:ph type="title"/>
          </p:nvPr>
        </p:nvSpPr>
        <p:spPr>
          <a:xfrm>
            <a:off x="3945255" y="432593"/>
            <a:ext cx="2167890" cy="3276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19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sz="195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object 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00400" y="3352800"/>
            <a:ext cx="4038600" cy="738664"/>
          </a:xfrm>
        </p:spPr>
        <p:txBody>
          <a:bodyPr/>
          <a:lstStyle/>
          <a:p>
            <a:r>
              <a:rPr lang="en-IN" sz="4800" dirty="0">
                <a:solidFill>
                  <a:schemeClr val="accent6">
                    <a:lumMod val="75000"/>
                  </a:schemeClr>
                </a:solidFill>
              </a:rPr>
              <a:t>THANK YOU</a:t>
            </a:r>
            <a:endParaRPr lang="en-IN" sz="4800" dirty="0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4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11596</Words>
  <Application>WPS Presentation</Application>
  <PresentationFormat>Custom</PresentationFormat>
  <Paragraphs>1045</Paragraphs>
  <Slides>25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35" baseType="lpstr">
      <vt:lpstr>Arial</vt:lpstr>
      <vt:lpstr>SimSun</vt:lpstr>
      <vt:lpstr>Wingdings</vt:lpstr>
      <vt:lpstr>Palatino Linotype</vt:lpstr>
      <vt:lpstr>Times New Roman</vt:lpstr>
      <vt:lpstr>Cambria</vt:lpstr>
      <vt:lpstr>Microsoft YaHei</vt:lpstr>
      <vt:lpstr>Arial Unicode MS</vt:lpstr>
      <vt:lpstr>Calibri</vt:lpstr>
      <vt:lpstr>Office Theme</vt:lpstr>
      <vt:lpstr>Database Management Systems Cornerstone Project Final Review (Review I &amp; II)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CONCLUSION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Zeroth Review</dc:title>
  <dc:creator>RESHMA BASAPATHI</dc:creator>
  <cp:lastModifiedBy>Rishitha</cp:lastModifiedBy>
  <cp:revision>65</cp:revision>
  <cp:lastPrinted>2025-10-14T18:21:00Z</cp:lastPrinted>
  <dcterms:created xsi:type="dcterms:W3CDTF">2025-10-10T08:28:00Z</dcterms:created>
  <dcterms:modified xsi:type="dcterms:W3CDTF">2026-09-26T04:16:20Z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2025-09-12T16:30:00Z</vt:filetime>
  </property>
  <property fmtid="{D5CDD505-2E9C-101B-9397-08002B2CF9AE}" pid="3" name="LastSaved">
    <vt:filetime>2025-10-10T16:30:00Z</vt:filetime>
  </property>
  <property fmtid="{D5CDD505-2E9C-101B-9397-08002B2CF9AE}" pid="4" name="KSOProductBuildVer">
    <vt:lpwstr>1033-12.1.0.28485</vt:lpwstr>
  </property>
  <property fmtid="{D5CDD505-2E9C-101B-9397-08002B2CF9AE}" pid="5" name="ICV">
    <vt:lpwstr>FB8AFEB5BC3E4D1CBDC27EBF26B86F9B_13</vt:lpwstr>
  </property>
</Properties>
</file>